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62" r:id="rId4"/>
    <p:sldId id="266" r:id="rId5"/>
    <p:sldId id="258" r:id="rId6"/>
    <p:sldId id="267" r:id="rId7"/>
    <p:sldId id="260" r:id="rId8"/>
    <p:sldId id="261" r:id="rId9"/>
    <p:sldId id="265" r:id="rId10"/>
    <p:sldId id="268" r:id="rId11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3A2E06-F3E6-4718-958A-D8F1D380835D}">
          <p14:sldIdLst>
            <p14:sldId id="256"/>
            <p14:sldId id="257"/>
            <p14:sldId id="262"/>
            <p14:sldId id="266"/>
          </p14:sldIdLst>
        </p14:section>
        <p14:section name="Untitled Section" id="{C9824CE3-E6A9-4596-BC98-A856DE0687DD}">
          <p14:sldIdLst>
            <p14:sldId id="258"/>
            <p14:sldId id="267"/>
            <p14:sldId id="260"/>
            <p14:sldId id="261"/>
            <p14:sldId id="265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D5E3"/>
    <a:srgbClr val="63639F"/>
    <a:srgbClr val="102F5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31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2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7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8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39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94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77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34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85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66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94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8/4/2023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6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4DFB53-C7FE-4BC7-BA96-83262BE09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FD49C-E99F-1DA7-42DD-BA1933A8A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8164" y="5148889"/>
            <a:ext cx="9412941" cy="908103"/>
          </a:xfrm>
        </p:spPr>
        <p:txBody>
          <a:bodyPr>
            <a:noAutofit/>
          </a:bodyPr>
          <a:lstStyle/>
          <a:p>
            <a:r>
              <a:rPr lang="ro-RO" sz="3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APLICAȚIE MOBILĂ PENTRU RAPORTAREA APARATURII MEDICALE NEFUNCȚIONALE</a:t>
            </a:r>
            <a:endParaRPr lang="ro-RO" sz="3600" dirty="0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CA7C17CB-7812-2E48-F9C2-CB8C7B00BB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051" b="26574"/>
          <a:stretch/>
        </p:blipFill>
        <p:spPr>
          <a:xfrm>
            <a:off x="20" y="10"/>
            <a:ext cx="12191980" cy="43478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379CA5-0559-1867-66D2-DBAB68050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727" y="209565"/>
            <a:ext cx="1767840" cy="640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23EAD3-0CA8-D226-2570-14AB6CE06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33" y="214268"/>
            <a:ext cx="198882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64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FF92-47F4-3A38-6A72-8CABD5135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2057400"/>
            <a:ext cx="2630854" cy="691006"/>
          </a:xfrm>
        </p:spPr>
        <p:txBody>
          <a:bodyPr anchor="t">
            <a:normAutofit/>
          </a:bodyPr>
          <a:lstStyle/>
          <a:p>
            <a:r>
              <a:rPr lang="en-US" dirty="0"/>
              <a:t>CUPRINS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5F0AE-A9D6-A9EC-0CB1-632CB4251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1" y="1250462"/>
            <a:ext cx="4914899" cy="4921737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Tema </a:t>
            </a:r>
            <a:r>
              <a:rPr lang="ro-RO" sz="2400" dirty="0"/>
              <a:t>aplicației</a:t>
            </a:r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 err="1"/>
              <a:t>Tehnologiile</a:t>
            </a:r>
            <a:r>
              <a:rPr lang="en-US" sz="2400" dirty="0"/>
              <a:t> </a:t>
            </a:r>
            <a:r>
              <a:rPr lang="en-US" sz="2400" dirty="0" err="1"/>
              <a:t>utilizate</a:t>
            </a:r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 err="1"/>
              <a:t>Arhitectura</a:t>
            </a:r>
            <a:r>
              <a:rPr lang="en-US" sz="2400" dirty="0"/>
              <a:t> </a:t>
            </a:r>
            <a:r>
              <a:rPr lang="ro-RO" sz="2400" dirty="0"/>
              <a:t>aplicației </a:t>
            </a:r>
            <a:endParaRPr lang="en-US" sz="2400" dirty="0"/>
          </a:p>
          <a:p>
            <a:pPr marL="342900" indent="-342900">
              <a:buAutoNum type="arabicPeriod"/>
            </a:pPr>
            <a:r>
              <a:rPr lang="ro-RO" sz="2400" dirty="0"/>
              <a:t>Funcționalitățile</a:t>
            </a:r>
            <a:r>
              <a:rPr lang="en-US" sz="2400" dirty="0"/>
              <a:t> </a:t>
            </a:r>
            <a:r>
              <a:rPr lang="ro-RO" sz="2400" dirty="0"/>
              <a:t>aplicației </a:t>
            </a:r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 err="1"/>
              <a:t>Baza</a:t>
            </a:r>
            <a:r>
              <a:rPr lang="en-US" sz="2400" dirty="0"/>
              <a:t> de date</a:t>
            </a:r>
          </a:p>
          <a:p>
            <a:pPr marL="342900" indent="-342900">
              <a:buAutoNum type="arabicPeriod"/>
            </a:pPr>
            <a:r>
              <a:rPr lang="en-US" sz="2400" dirty="0" err="1"/>
              <a:t>Concluzii</a:t>
            </a:r>
            <a:endParaRPr lang="en-US" sz="2400" dirty="0"/>
          </a:p>
          <a:p>
            <a:pPr marL="342900" indent="-342900">
              <a:buAutoNum type="arabicPeriod"/>
            </a:pPr>
            <a:r>
              <a:rPr lang="ro-RO" sz="2400" dirty="0"/>
              <a:t>Direcții</a:t>
            </a:r>
            <a:r>
              <a:rPr lang="en-US" sz="2400" dirty="0"/>
              <a:t> de </a:t>
            </a:r>
            <a:r>
              <a:rPr lang="en-US" sz="2400" dirty="0" err="1"/>
              <a:t>dezvoltare</a:t>
            </a:r>
            <a:r>
              <a:rPr lang="en-US" sz="2400" dirty="0"/>
              <a:t> </a:t>
            </a:r>
            <a:endParaRPr lang="ro-RO" sz="2400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00EA9EC1-B4C0-4B8E-A0C5-32E12DF93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z="1000" b="1" smtClean="0"/>
              <a:pPr>
                <a:spcAft>
                  <a:spcPts val="600"/>
                </a:spcAft>
              </a:pPr>
              <a:t>2</a:t>
            </a:fld>
            <a:endParaRPr lang="en-US" sz="1000" b="1" dirty="0"/>
          </a:p>
        </p:txBody>
      </p:sp>
      <p:sp>
        <p:nvSpPr>
          <p:cNvPr id="4" name="Google Shape;5018;p125">
            <a:extLst>
              <a:ext uri="{FF2B5EF4-FFF2-40B4-BE49-F238E27FC236}">
                <a16:creationId xmlns:a16="http://schemas.microsoft.com/office/drawing/2014/main" id="{B9DA98DE-D1A7-5BF4-CC90-D761CC464AF1}"/>
              </a:ext>
            </a:extLst>
          </p:cNvPr>
          <p:cNvSpPr/>
          <p:nvPr/>
        </p:nvSpPr>
        <p:spPr>
          <a:xfrm>
            <a:off x="800100" y="2563010"/>
            <a:ext cx="2041712" cy="45719"/>
          </a:xfrm>
          <a:prstGeom prst="rect">
            <a:avLst/>
          </a:prstGeom>
          <a:solidFill>
            <a:srgbClr val="93D5E3"/>
          </a:solidFill>
          <a:ln>
            <a:solidFill>
              <a:srgbClr val="93D5E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5017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F3BC714-669F-B4BB-C618-2BB0E9E7DBEB}"/>
              </a:ext>
            </a:extLst>
          </p:cNvPr>
          <p:cNvSpPr txBox="1">
            <a:spLocks/>
          </p:cNvSpPr>
          <p:nvPr/>
        </p:nvSpPr>
        <p:spPr>
          <a:xfrm>
            <a:off x="581649" y="0"/>
            <a:ext cx="9457059" cy="1506381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TEMA APLICAȚIEI </a:t>
            </a:r>
          </a:p>
        </p:txBody>
      </p:sp>
      <p:sp>
        <p:nvSpPr>
          <p:cNvPr id="17" name="Slide Number Placeholder 10">
            <a:extLst>
              <a:ext uri="{FF2B5EF4-FFF2-40B4-BE49-F238E27FC236}">
                <a16:creationId xmlns:a16="http://schemas.microsoft.com/office/drawing/2014/main" id="{1F03B11F-7EA0-4DD0-B80D-8B0E6DF73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8AB6432-E879-4FE7-87DD-5FEE9CC88187}" type="slidenum">
              <a:rPr lang="en-US" sz="1000" b="1" smtClean="0"/>
              <a:pPr>
                <a:spcAft>
                  <a:spcPts val="600"/>
                </a:spcAft>
              </a:pPr>
              <a:t>3</a:t>
            </a:fld>
            <a:endParaRPr lang="en-US" sz="10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13069A7-8993-0531-4244-7AF665711569}"/>
              </a:ext>
            </a:extLst>
          </p:cNvPr>
          <p:cNvSpPr txBox="1">
            <a:spLocks/>
          </p:cNvSpPr>
          <p:nvPr/>
        </p:nvSpPr>
        <p:spPr>
          <a:xfrm>
            <a:off x="1367470" y="2675809"/>
            <a:ext cx="9457059" cy="1506381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0" dirty="0">
                <a:latin typeface="+mn-lt"/>
              </a:rPr>
              <a:t>O </a:t>
            </a:r>
            <a:r>
              <a:rPr lang="en-US" sz="3300" b="0" dirty="0" err="1">
                <a:latin typeface="+mn-lt"/>
              </a:rPr>
              <a:t>aplicație</a:t>
            </a:r>
            <a:r>
              <a:rPr lang="en-US" sz="3300" b="0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 </a:t>
            </a:r>
            <a:r>
              <a:rPr lang="en-US" sz="3300" b="0" kern="1200" dirty="0" err="1">
                <a:solidFill>
                  <a:schemeClr val="tx1"/>
                </a:solidFill>
                <a:latin typeface="+mn-lt"/>
                <a:ea typeface="+mj-ea"/>
                <a:cs typeface="+mj-cs"/>
              </a:rPr>
              <a:t>mobilă</a:t>
            </a:r>
            <a:r>
              <a:rPr lang="en-US" sz="3300" b="0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 care </a:t>
            </a:r>
            <a:r>
              <a:rPr lang="en-US" sz="3300" b="0" kern="1200" dirty="0" err="1">
                <a:solidFill>
                  <a:schemeClr val="tx1"/>
                </a:solidFill>
                <a:latin typeface="+mn-lt"/>
                <a:ea typeface="+mj-ea"/>
                <a:cs typeface="+mj-cs"/>
              </a:rPr>
              <a:t>să</a:t>
            </a:r>
            <a:r>
              <a:rPr lang="en-US" sz="3300" b="0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 </a:t>
            </a:r>
            <a:r>
              <a:rPr lang="ro-RO" sz="3300" b="0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permită medicilor, asistenților și inginerilor dintr-un spital să raporteze rapid și ușor aparatele medicale nefuncționale.</a:t>
            </a:r>
            <a:endParaRPr lang="en-US" sz="3300" b="0" kern="1200" dirty="0">
              <a:solidFill>
                <a:schemeClr val="tx1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2" name="Google Shape;5018;p125">
            <a:extLst>
              <a:ext uri="{FF2B5EF4-FFF2-40B4-BE49-F238E27FC236}">
                <a16:creationId xmlns:a16="http://schemas.microsoft.com/office/drawing/2014/main" id="{0CEAF6D2-AE40-5705-7CFC-899B08D6E4EE}"/>
              </a:ext>
            </a:extLst>
          </p:cNvPr>
          <p:cNvSpPr/>
          <p:nvPr/>
        </p:nvSpPr>
        <p:spPr>
          <a:xfrm>
            <a:off x="581649" y="1027654"/>
            <a:ext cx="3775198" cy="45719"/>
          </a:xfrm>
          <a:prstGeom prst="rect">
            <a:avLst/>
          </a:prstGeom>
          <a:solidFill>
            <a:srgbClr val="93D5E3"/>
          </a:solidFill>
          <a:ln>
            <a:solidFill>
              <a:srgbClr val="93D5E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5556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D61641D1-39F6-45D5-A871-0729C059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z="1000" b="1" smtClean="0"/>
              <a:pPr>
                <a:spcAft>
                  <a:spcPts val="600"/>
                </a:spcAft>
              </a:pPr>
              <a:t>4</a:t>
            </a:fld>
            <a:endParaRPr lang="en-US" sz="1000" b="1" dirty="0"/>
          </a:p>
        </p:txBody>
      </p:sp>
      <p:pic>
        <p:nvPicPr>
          <p:cNvPr id="35" name="Picture 34" descr="A picture containing screenshot, square, rectangle, colorfulness&#10;&#10;Description automatically generated">
            <a:extLst>
              <a:ext uri="{FF2B5EF4-FFF2-40B4-BE49-F238E27FC236}">
                <a16:creationId xmlns:a16="http://schemas.microsoft.com/office/drawing/2014/main" id="{4BF0FD5C-BED2-DA03-A334-6398D5709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341" y="3152773"/>
            <a:ext cx="1466852" cy="1466852"/>
          </a:xfrm>
          <a:prstGeom prst="rect">
            <a:avLst/>
          </a:prstGeom>
        </p:spPr>
      </p:pic>
      <p:pic>
        <p:nvPicPr>
          <p:cNvPr id="36" name="Picture 35" descr="A picture containing graphics, font, design&#10;&#10;Description automatically generated">
            <a:extLst>
              <a:ext uri="{FF2B5EF4-FFF2-40B4-BE49-F238E27FC236}">
                <a16:creationId xmlns:a16="http://schemas.microsoft.com/office/drawing/2014/main" id="{0872DBDC-EC94-90E5-0B11-6B82366271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8" t="7217" r="20619" b="5670"/>
          <a:stretch/>
        </p:blipFill>
        <p:spPr>
          <a:xfrm>
            <a:off x="6562165" y="648405"/>
            <a:ext cx="1104901" cy="1609726"/>
          </a:xfrm>
          <a:prstGeom prst="rect">
            <a:avLst/>
          </a:prstGeom>
        </p:spPr>
      </p:pic>
      <p:pic>
        <p:nvPicPr>
          <p:cNvPr id="38" name="Picture 37" descr="A picture containing graphics, font, graphic design, logo&#10;&#10;Description automatically generated">
            <a:extLst>
              <a:ext uri="{FF2B5EF4-FFF2-40B4-BE49-F238E27FC236}">
                <a16:creationId xmlns:a16="http://schemas.microsoft.com/office/drawing/2014/main" id="{22914116-669A-6440-2A4D-CAEF2D35C6C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1" t="23059" r="6913" b="22441"/>
          <a:stretch/>
        </p:blipFill>
        <p:spPr>
          <a:xfrm>
            <a:off x="6124017" y="5531301"/>
            <a:ext cx="2095500" cy="809625"/>
          </a:xfrm>
          <a:prstGeom prst="rect">
            <a:avLst/>
          </a:prstGeom>
        </p:spPr>
      </p:pic>
      <p:pic>
        <p:nvPicPr>
          <p:cNvPr id="40" name="Picture 39" descr="A picture containing yellow, origami&#10;&#10;Description automatically generated">
            <a:extLst>
              <a:ext uri="{FF2B5EF4-FFF2-40B4-BE49-F238E27FC236}">
                <a16:creationId xmlns:a16="http://schemas.microsoft.com/office/drawing/2014/main" id="{EBA5DAF0-B8DE-52A8-F2D1-8BCF3472B07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8" r="8868"/>
          <a:stretch/>
        </p:blipFill>
        <p:spPr>
          <a:xfrm>
            <a:off x="8635155" y="3352799"/>
            <a:ext cx="2562226" cy="1066800"/>
          </a:xfrm>
          <a:prstGeom prst="rect">
            <a:avLst/>
          </a:prstGeom>
        </p:spPr>
      </p:pic>
      <p:pic>
        <p:nvPicPr>
          <p:cNvPr id="42" name="Picture 41" descr="A picture containing graphics, design&#10;&#10;Description automatically generated">
            <a:extLst>
              <a:ext uri="{FF2B5EF4-FFF2-40B4-BE49-F238E27FC236}">
                <a16:creationId xmlns:a16="http://schemas.microsoft.com/office/drawing/2014/main" id="{83BD768C-FA23-E0D5-FD41-6A233E5C8D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185" y="3257549"/>
            <a:ext cx="1941776" cy="1257300"/>
          </a:xfrm>
          <a:prstGeom prst="rect">
            <a:avLst/>
          </a:prstGeom>
        </p:spPr>
      </p:pic>
      <p:grpSp>
        <p:nvGrpSpPr>
          <p:cNvPr id="44" name="Google Shape;2560;p92">
            <a:extLst>
              <a:ext uri="{FF2B5EF4-FFF2-40B4-BE49-F238E27FC236}">
                <a16:creationId xmlns:a16="http://schemas.microsoft.com/office/drawing/2014/main" id="{FCE30897-5326-93F1-59F5-06B3CD65A3CA}"/>
              </a:ext>
            </a:extLst>
          </p:cNvPr>
          <p:cNvGrpSpPr/>
          <p:nvPr/>
        </p:nvGrpSpPr>
        <p:grpSpPr>
          <a:xfrm>
            <a:off x="7667066" y="3818828"/>
            <a:ext cx="637858" cy="130398"/>
            <a:chOff x="3320284" y="1816114"/>
            <a:chExt cx="637858" cy="130398"/>
          </a:xfrm>
        </p:grpSpPr>
        <p:cxnSp>
          <p:nvCxnSpPr>
            <p:cNvPr id="45" name="Google Shape;2561;p92">
              <a:extLst>
                <a:ext uri="{FF2B5EF4-FFF2-40B4-BE49-F238E27FC236}">
                  <a16:creationId xmlns:a16="http://schemas.microsoft.com/office/drawing/2014/main" id="{5173CAFE-FDE8-0BCF-DF4B-E473E93178E2}"/>
                </a:ext>
              </a:extLst>
            </p:cNvPr>
            <p:cNvCxnSpPr/>
            <p:nvPr/>
          </p:nvCxnSpPr>
          <p:spPr>
            <a:xfrm rot="10800000">
              <a:off x="3320284" y="1879141"/>
              <a:ext cx="582300" cy="0"/>
            </a:xfrm>
            <a:prstGeom prst="straightConnector1">
              <a:avLst/>
            </a:prstGeom>
            <a:noFill/>
            <a:ln w="9525" cap="flat" cmpd="sng">
              <a:solidFill>
                <a:srgbClr val="63639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" name="Google Shape;2562;p92">
              <a:extLst>
                <a:ext uri="{FF2B5EF4-FFF2-40B4-BE49-F238E27FC236}">
                  <a16:creationId xmlns:a16="http://schemas.microsoft.com/office/drawing/2014/main" id="{3C2B7EF1-0AC1-020F-3F46-082E11875C91}"/>
                </a:ext>
              </a:extLst>
            </p:cNvPr>
            <p:cNvSpPr/>
            <p:nvPr/>
          </p:nvSpPr>
          <p:spPr>
            <a:xfrm rot="-5400000">
              <a:off x="3827743" y="1816114"/>
              <a:ext cx="130398" cy="130398"/>
            </a:xfrm>
            <a:custGeom>
              <a:avLst/>
              <a:gdLst/>
              <a:ahLst/>
              <a:cxnLst/>
              <a:rect l="l" t="t" r="r" b="b"/>
              <a:pathLst>
                <a:path w="1245" h="1245" extrusionOk="0">
                  <a:moveTo>
                    <a:pt x="625" y="1"/>
                  </a:moveTo>
                  <a:cubicBezTo>
                    <a:pt x="279" y="1"/>
                    <a:pt x="0" y="279"/>
                    <a:pt x="0" y="626"/>
                  </a:cubicBezTo>
                  <a:cubicBezTo>
                    <a:pt x="0" y="966"/>
                    <a:pt x="279" y="1245"/>
                    <a:pt x="625" y="1245"/>
                  </a:cubicBezTo>
                  <a:cubicBezTo>
                    <a:pt x="966" y="1245"/>
                    <a:pt x="1244" y="966"/>
                    <a:pt x="1244" y="626"/>
                  </a:cubicBezTo>
                  <a:cubicBezTo>
                    <a:pt x="1244" y="279"/>
                    <a:pt x="966" y="1"/>
                    <a:pt x="625" y="1"/>
                  </a:cubicBezTo>
                  <a:close/>
                </a:path>
              </a:pathLst>
            </a:custGeom>
            <a:solidFill>
              <a:srgbClr val="63639F"/>
            </a:solidFill>
            <a:ln>
              <a:solidFill>
                <a:srgbClr val="63639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7" name="Google Shape;2560;p92">
            <a:extLst>
              <a:ext uri="{FF2B5EF4-FFF2-40B4-BE49-F238E27FC236}">
                <a16:creationId xmlns:a16="http://schemas.microsoft.com/office/drawing/2014/main" id="{FDE082C2-56E3-6E99-4310-D80F030C2D92}"/>
              </a:ext>
            </a:extLst>
          </p:cNvPr>
          <p:cNvGrpSpPr/>
          <p:nvPr/>
        </p:nvGrpSpPr>
        <p:grpSpPr>
          <a:xfrm rot="16200000">
            <a:off x="6877703" y="2682761"/>
            <a:ext cx="637857" cy="130398"/>
            <a:chOff x="3320284" y="1816114"/>
            <a:chExt cx="637857" cy="130398"/>
          </a:xfrm>
        </p:grpSpPr>
        <p:cxnSp>
          <p:nvCxnSpPr>
            <p:cNvPr id="48" name="Google Shape;2561;p92">
              <a:extLst>
                <a:ext uri="{FF2B5EF4-FFF2-40B4-BE49-F238E27FC236}">
                  <a16:creationId xmlns:a16="http://schemas.microsoft.com/office/drawing/2014/main" id="{B7CC4641-036D-A069-4906-E700C30E8BD3}"/>
                </a:ext>
              </a:extLst>
            </p:cNvPr>
            <p:cNvCxnSpPr/>
            <p:nvPr/>
          </p:nvCxnSpPr>
          <p:spPr>
            <a:xfrm rot="10800000">
              <a:off x="3320284" y="1879141"/>
              <a:ext cx="582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Google Shape;2562;p92">
              <a:extLst>
                <a:ext uri="{FF2B5EF4-FFF2-40B4-BE49-F238E27FC236}">
                  <a16:creationId xmlns:a16="http://schemas.microsoft.com/office/drawing/2014/main" id="{694FF8AB-0E91-EDF1-6192-43CFAC4CCC5F}"/>
                </a:ext>
              </a:extLst>
            </p:cNvPr>
            <p:cNvSpPr/>
            <p:nvPr/>
          </p:nvSpPr>
          <p:spPr>
            <a:xfrm rot="16200000">
              <a:off x="3827743" y="1816114"/>
              <a:ext cx="130398" cy="130398"/>
            </a:xfrm>
            <a:custGeom>
              <a:avLst/>
              <a:gdLst/>
              <a:ahLst/>
              <a:cxnLst/>
              <a:rect l="l" t="t" r="r" b="b"/>
              <a:pathLst>
                <a:path w="1245" h="1245" extrusionOk="0">
                  <a:moveTo>
                    <a:pt x="625" y="1"/>
                  </a:moveTo>
                  <a:cubicBezTo>
                    <a:pt x="279" y="1"/>
                    <a:pt x="0" y="279"/>
                    <a:pt x="0" y="626"/>
                  </a:cubicBezTo>
                  <a:cubicBezTo>
                    <a:pt x="0" y="966"/>
                    <a:pt x="279" y="1245"/>
                    <a:pt x="625" y="1245"/>
                  </a:cubicBezTo>
                  <a:cubicBezTo>
                    <a:pt x="966" y="1245"/>
                    <a:pt x="1244" y="966"/>
                    <a:pt x="1244" y="626"/>
                  </a:cubicBezTo>
                  <a:cubicBezTo>
                    <a:pt x="1244" y="279"/>
                    <a:pt x="966" y="1"/>
                    <a:pt x="625" y="1"/>
                  </a:cubicBezTo>
                  <a:close/>
                </a:path>
              </a:pathLst>
            </a:custGeom>
            <a:solidFill>
              <a:srgbClr val="6363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2560;p92">
            <a:extLst>
              <a:ext uri="{FF2B5EF4-FFF2-40B4-BE49-F238E27FC236}">
                <a16:creationId xmlns:a16="http://schemas.microsoft.com/office/drawing/2014/main" id="{6A2BE6CE-4C20-16E8-A72B-A27742582C47}"/>
              </a:ext>
            </a:extLst>
          </p:cNvPr>
          <p:cNvGrpSpPr/>
          <p:nvPr/>
        </p:nvGrpSpPr>
        <p:grpSpPr>
          <a:xfrm rot="10800000">
            <a:off x="5983193" y="3818828"/>
            <a:ext cx="637858" cy="130398"/>
            <a:chOff x="3320284" y="1816114"/>
            <a:chExt cx="637858" cy="130398"/>
          </a:xfrm>
        </p:grpSpPr>
        <p:cxnSp>
          <p:nvCxnSpPr>
            <p:cNvPr id="51" name="Google Shape;2561;p92">
              <a:extLst>
                <a:ext uri="{FF2B5EF4-FFF2-40B4-BE49-F238E27FC236}">
                  <a16:creationId xmlns:a16="http://schemas.microsoft.com/office/drawing/2014/main" id="{47339F2F-954A-5AED-E21A-FA9FBD32FE2D}"/>
                </a:ext>
              </a:extLst>
            </p:cNvPr>
            <p:cNvCxnSpPr/>
            <p:nvPr/>
          </p:nvCxnSpPr>
          <p:spPr>
            <a:xfrm rot="10800000">
              <a:off x="3320284" y="1879141"/>
              <a:ext cx="582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" name="Google Shape;2562;p92">
              <a:extLst>
                <a:ext uri="{FF2B5EF4-FFF2-40B4-BE49-F238E27FC236}">
                  <a16:creationId xmlns:a16="http://schemas.microsoft.com/office/drawing/2014/main" id="{BE55CB3E-9AA7-8512-B879-297003DF76A0}"/>
                </a:ext>
              </a:extLst>
            </p:cNvPr>
            <p:cNvSpPr/>
            <p:nvPr/>
          </p:nvSpPr>
          <p:spPr>
            <a:xfrm rot="-5400000">
              <a:off x="3827743" y="1816114"/>
              <a:ext cx="130398" cy="130398"/>
            </a:xfrm>
            <a:custGeom>
              <a:avLst/>
              <a:gdLst/>
              <a:ahLst/>
              <a:cxnLst/>
              <a:rect l="l" t="t" r="r" b="b"/>
              <a:pathLst>
                <a:path w="1245" h="1245" extrusionOk="0">
                  <a:moveTo>
                    <a:pt x="625" y="1"/>
                  </a:moveTo>
                  <a:cubicBezTo>
                    <a:pt x="279" y="1"/>
                    <a:pt x="0" y="279"/>
                    <a:pt x="0" y="626"/>
                  </a:cubicBezTo>
                  <a:cubicBezTo>
                    <a:pt x="0" y="966"/>
                    <a:pt x="279" y="1245"/>
                    <a:pt x="625" y="1245"/>
                  </a:cubicBezTo>
                  <a:cubicBezTo>
                    <a:pt x="966" y="1245"/>
                    <a:pt x="1244" y="966"/>
                    <a:pt x="1244" y="626"/>
                  </a:cubicBezTo>
                  <a:cubicBezTo>
                    <a:pt x="1244" y="279"/>
                    <a:pt x="966" y="1"/>
                    <a:pt x="625" y="1"/>
                  </a:cubicBezTo>
                  <a:close/>
                </a:path>
              </a:pathLst>
            </a:custGeom>
            <a:solidFill>
              <a:srgbClr val="6363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2560;p92">
            <a:extLst>
              <a:ext uri="{FF2B5EF4-FFF2-40B4-BE49-F238E27FC236}">
                <a16:creationId xmlns:a16="http://schemas.microsoft.com/office/drawing/2014/main" id="{BA39576E-AB7A-9CDB-7DF2-1D3B6CAF9058}"/>
              </a:ext>
            </a:extLst>
          </p:cNvPr>
          <p:cNvGrpSpPr/>
          <p:nvPr/>
        </p:nvGrpSpPr>
        <p:grpSpPr>
          <a:xfrm rot="5400000">
            <a:off x="6870974" y="4959240"/>
            <a:ext cx="637858" cy="130398"/>
            <a:chOff x="3320284" y="1816114"/>
            <a:chExt cx="637858" cy="130398"/>
          </a:xfrm>
        </p:grpSpPr>
        <p:cxnSp>
          <p:nvCxnSpPr>
            <p:cNvPr id="54" name="Google Shape;2561;p92">
              <a:extLst>
                <a:ext uri="{FF2B5EF4-FFF2-40B4-BE49-F238E27FC236}">
                  <a16:creationId xmlns:a16="http://schemas.microsoft.com/office/drawing/2014/main" id="{FF2AD2AB-24E8-025B-46F9-96F2EEBCA45C}"/>
                </a:ext>
              </a:extLst>
            </p:cNvPr>
            <p:cNvCxnSpPr/>
            <p:nvPr/>
          </p:nvCxnSpPr>
          <p:spPr>
            <a:xfrm rot="10800000">
              <a:off x="3320284" y="1879141"/>
              <a:ext cx="582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" name="Google Shape;2562;p92">
              <a:extLst>
                <a:ext uri="{FF2B5EF4-FFF2-40B4-BE49-F238E27FC236}">
                  <a16:creationId xmlns:a16="http://schemas.microsoft.com/office/drawing/2014/main" id="{761BBA12-A58A-8323-4EED-02D397269581}"/>
                </a:ext>
              </a:extLst>
            </p:cNvPr>
            <p:cNvSpPr/>
            <p:nvPr/>
          </p:nvSpPr>
          <p:spPr>
            <a:xfrm rot="-5400000">
              <a:off x="3827743" y="1816114"/>
              <a:ext cx="130398" cy="130398"/>
            </a:xfrm>
            <a:custGeom>
              <a:avLst/>
              <a:gdLst/>
              <a:ahLst/>
              <a:cxnLst/>
              <a:rect l="l" t="t" r="r" b="b"/>
              <a:pathLst>
                <a:path w="1245" h="1245" extrusionOk="0">
                  <a:moveTo>
                    <a:pt x="625" y="1"/>
                  </a:moveTo>
                  <a:cubicBezTo>
                    <a:pt x="279" y="1"/>
                    <a:pt x="0" y="279"/>
                    <a:pt x="0" y="626"/>
                  </a:cubicBezTo>
                  <a:cubicBezTo>
                    <a:pt x="0" y="966"/>
                    <a:pt x="279" y="1245"/>
                    <a:pt x="625" y="1245"/>
                  </a:cubicBezTo>
                  <a:cubicBezTo>
                    <a:pt x="966" y="1245"/>
                    <a:pt x="1244" y="966"/>
                    <a:pt x="1244" y="626"/>
                  </a:cubicBezTo>
                  <a:cubicBezTo>
                    <a:pt x="1244" y="279"/>
                    <a:pt x="966" y="1"/>
                    <a:pt x="625" y="1"/>
                  </a:cubicBezTo>
                  <a:close/>
                </a:path>
              </a:pathLst>
            </a:custGeom>
            <a:solidFill>
              <a:srgbClr val="6363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7D0FBFDA-AD34-8B97-F55E-9346506943A5}"/>
              </a:ext>
            </a:extLst>
          </p:cNvPr>
          <p:cNvSpPr txBox="1">
            <a:spLocks/>
          </p:cNvSpPr>
          <p:nvPr/>
        </p:nvSpPr>
        <p:spPr>
          <a:xfrm>
            <a:off x="581649" y="410008"/>
            <a:ext cx="3667123" cy="1043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3600" dirty="0"/>
              <a:t>TEHNOLOGIILE UTILIZATE</a:t>
            </a:r>
          </a:p>
        </p:txBody>
      </p:sp>
      <p:sp>
        <p:nvSpPr>
          <p:cNvPr id="2" name="Google Shape;5018;p125">
            <a:extLst>
              <a:ext uri="{FF2B5EF4-FFF2-40B4-BE49-F238E27FC236}">
                <a16:creationId xmlns:a16="http://schemas.microsoft.com/office/drawing/2014/main" id="{0CDA0955-C0C6-389C-8BBE-1B17E321923E}"/>
              </a:ext>
            </a:extLst>
          </p:cNvPr>
          <p:cNvSpPr/>
          <p:nvPr/>
        </p:nvSpPr>
        <p:spPr>
          <a:xfrm flipV="1">
            <a:off x="581446" y="1313630"/>
            <a:ext cx="3345095" cy="45719"/>
          </a:xfrm>
          <a:prstGeom prst="rect">
            <a:avLst/>
          </a:prstGeom>
          <a:solidFill>
            <a:srgbClr val="93D5E3"/>
          </a:solidFill>
          <a:ln>
            <a:solidFill>
              <a:srgbClr val="93D5E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523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018;p125">
            <a:extLst>
              <a:ext uri="{FF2B5EF4-FFF2-40B4-BE49-F238E27FC236}">
                <a16:creationId xmlns:a16="http://schemas.microsoft.com/office/drawing/2014/main" id="{009E5BB0-4F81-80D4-318A-FD9630F90957}"/>
              </a:ext>
            </a:extLst>
          </p:cNvPr>
          <p:cNvSpPr/>
          <p:nvPr/>
        </p:nvSpPr>
        <p:spPr>
          <a:xfrm>
            <a:off x="572622" y="1075057"/>
            <a:ext cx="2959471" cy="45719"/>
          </a:xfrm>
          <a:prstGeom prst="rect">
            <a:avLst/>
          </a:prstGeom>
          <a:solidFill>
            <a:srgbClr val="93D5E3"/>
          </a:solidFill>
          <a:ln>
            <a:solidFill>
              <a:srgbClr val="93D5E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93B9F21-EFDA-361E-C19F-9FFBF0AACA2D}"/>
              </a:ext>
            </a:extLst>
          </p:cNvPr>
          <p:cNvSpPr txBox="1">
            <a:spLocks/>
          </p:cNvSpPr>
          <p:nvPr/>
        </p:nvSpPr>
        <p:spPr>
          <a:xfrm>
            <a:off x="595531" y="184169"/>
            <a:ext cx="325032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dirty="0"/>
              <a:t>ARHITECTURA APLICAȚIEI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B5693A-08F6-DC38-F4EC-230460B6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z="1000" b="1" smtClean="0"/>
              <a:pPr>
                <a:spcAft>
                  <a:spcPts val="600"/>
                </a:spcAft>
              </a:pPr>
              <a:t>5</a:t>
            </a:fld>
            <a:endParaRPr lang="en-US" sz="1000" b="1" dirty="0"/>
          </a:p>
        </p:txBody>
      </p:sp>
      <p:pic>
        <p:nvPicPr>
          <p:cNvPr id="8" name="Picture 7" descr="A screenshot of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7600CBE2-26C6-46DD-F44F-C2DB3E0D9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56" y="0"/>
            <a:ext cx="108331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2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018;p125">
            <a:extLst>
              <a:ext uri="{FF2B5EF4-FFF2-40B4-BE49-F238E27FC236}">
                <a16:creationId xmlns:a16="http://schemas.microsoft.com/office/drawing/2014/main" id="{B85001F1-9C17-34DA-2F3D-CFAF0DB2CF4F}"/>
              </a:ext>
            </a:extLst>
          </p:cNvPr>
          <p:cNvSpPr/>
          <p:nvPr/>
        </p:nvSpPr>
        <p:spPr>
          <a:xfrm>
            <a:off x="578473" y="1029548"/>
            <a:ext cx="4092140" cy="45719"/>
          </a:xfrm>
          <a:prstGeom prst="rect">
            <a:avLst/>
          </a:prstGeom>
          <a:solidFill>
            <a:srgbClr val="93D5E3"/>
          </a:solidFill>
          <a:ln>
            <a:solidFill>
              <a:srgbClr val="93D5E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ACBEA1-8913-4470-47C3-D329C1970756}"/>
              </a:ext>
            </a:extLst>
          </p:cNvPr>
          <p:cNvSpPr txBox="1">
            <a:spLocks/>
          </p:cNvSpPr>
          <p:nvPr/>
        </p:nvSpPr>
        <p:spPr>
          <a:xfrm>
            <a:off x="587437" y="127004"/>
            <a:ext cx="4288367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dirty="0"/>
              <a:t>FUNCȚIONALITĂȚILE APLICAȚIEI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F577807-D653-7E80-19C0-02D990F0189D}"/>
              </a:ext>
            </a:extLst>
          </p:cNvPr>
          <p:cNvGrpSpPr/>
          <p:nvPr/>
        </p:nvGrpSpPr>
        <p:grpSpPr>
          <a:xfrm>
            <a:off x="1257654" y="1199298"/>
            <a:ext cx="10279921" cy="5286188"/>
            <a:chOff x="1535682" y="1199298"/>
            <a:chExt cx="9831007" cy="528618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6D25A62-223C-F7AF-0874-6B78475EA7E1}"/>
                </a:ext>
              </a:extLst>
            </p:cNvPr>
            <p:cNvGrpSpPr/>
            <p:nvPr/>
          </p:nvGrpSpPr>
          <p:grpSpPr>
            <a:xfrm>
              <a:off x="1535682" y="1199298"/>
              <a:ext cx="2583449" cy="5286188"/>
              <a:chOff x="1328738" y="1285875"/>
              <a:chExt cx="2406650" cy="4924425"/>
            </a:xfrm>
          </p:grpSpPr>
          <p:sp>
            <p:nvSpPr>
              <p:cNvPr id="56" name="AutoShape 3">
                <a:extLst>
                  <a:ext uri="{FF2B5EF4-FFF2-40B4-BE49-F238E27FC236}">
                    <a16:creationId xmlns:a16="http://schemas.microsoft.com/office/drawing/2014/main" id="{21C5BCDB-F2DD-68C2-E150-50CAF93BA390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331913" y="1289050"/>
                <a:ext cx="2403475" cy="4921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7">
                <a:extLst>
                  <a:ext uri="{FF2B5EF4-FFF2-40B4-BE49-F238E27FC236}">
                    <a16:creationId xmlns:a16="http://schemas.microsoft.com/office/drawing/2014/main" id="{1077C337-8999-DE09-C2AD-D6C67591F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8738" y="1285875"/>
                <a:ext cx="2406650" cy="4924425"/>
              </a:xfrm>
              <a:custGeom>
                <a:avLst/>
                <a:gdLst>
                  <a:gd name="T0" fmla="*/ 540 w 637"/>
                  <a:gd name="T1" fmla="*/ 1306 h 1306"/>
                  <a:gd name="T2" fmla="*/ 97 w 637"/>
                  <a:gd name="T3" fmla="*/ 1306 h 1306"/>
                  <a:gd name="T4" fmla="*/ 0 w 637"/>
                  <a:gd name="T5" fmla="*/ 1209 h 1306"/>
                  <a:gd name="T6" fmla="*/ 0 w 637"/>
                  <a:gd name="T7" fmla="*/ 97 h 1306"/>
                  <a:gd name="T8" fmla="*/ 97 w 637"/>
                  <a:gd name="T9" fmla="*/ 0 h 1306"/>
                  <a:gd name="T10" fmla="*/ 541 w 637"/>
                  <a:gd name="T11" fmla="*/ 0 h 1306"/>
                  <a:gd name="T12" fmla="*/ 637 w 637"/>
                  <a:gd name="T13" fmla="*/ 97 h 1306"/>
                  <a:gd name="T14" fmla="*/ 637 w 637"/>
                  <a:gd name="T15" fmla="*/ 1209 h 1306"/>
                  <a:gd name="T16" fmla="*/ 540 w 637"/>
                  <a:gd name="T17" fmla="*/ 1306 h 1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37" h="1306">
                    <a:moveTo>
                      <a:pt x="540" y="1306"/>
                    </a:moveTo>
                    <a:cubicBezTo>
                      <a:pt x="97" y="1306"/>
                      <a:pt x="97" y="1306"/>
                      <a:pt x="97" y="1306"/>
                    </a:cubicBezTo>
                    <a:cubicBezTo>
                      <a:pt x="43" y="1306"/>
                      <a:pt x="0" y="1262"/>
                      <a:pt x="0" y="1209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43"/>
                      <a:pt x="44" y="0"/>
                      <a:pt x="97" y="0"/>
                    </a:cubicBezTo>
                    <a:cubicBezTo>
                      <a:pt x="541" y="0"/>
                      <a:pt x="541" y="0"/>
                      <a:pt x="541" y="0"/>
                    </a:cubicBezTo>
                    <a:cubicBezTo>
                      <a:pt x="594" y="0"/>
                      <a:pt x="637" y="44"/>
                      <a:pt x="637" y="97"/>
                    </a:cubicBezTo>
                    <a:cubicBezTo>
                      <a:pt x="637" y="1209"/>
                      <a:pt x="637" y="1209"/>
                      <a:pt x="637" y="1209"/>
                    </a:cubicBezTo>
                    <a:cubicBezTo>
                      <a:pt x="637" y="1263"/>
                      <a:pt x="594" y="1306"/>
                      <a:pt x="540" y="1306"/>
                    </a:cubicBezTo>
                    <a:close/>
                  </a:path>
                </a:pathLst>
              </a:custGeom>
              <a:solidFill>
                <a:srgbClr val="102F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Freeform 8">
                <a:extLst>
                  <a:ext uri="{FF2B5EF4-FFF2-40B4-BE49-F238E27FC236}">
                    <a16:creationId xmlns:a16="http://schemas.microsoft.com/office/drawing/2014/main" id="{3355593E-1F5B-3D8F-988F-E8AA3D38F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8276" y="1431925"/>
                <a:ext cx="2187575" cy="4608513"/>
              </a:xfrm>
              <a:custGeom>
                <a:avLst/>
                <a:gdLst>
                  <a:gd name="T0" fmla="*/ 511 w 579"/>
                  <a:gd name="T1" fmla="*/ 1 h 1222"/>
                  <a:gd name="T2" fmla="*/ 425 w 579"/>
                  <a:gd name="T3" fmla="*/ 1 h 1222"/>
                  <a:gd name="T4" fmla="*/ 404 w 579"/>
                  <a:gd name="T5" fmla="*/ 22 h 1222"/>
                  <a:gd name="T6" fmla="*/ 404 w 579"/>
                  <a:gd name="T7" fmla="*/ 38 h 1222"/>
                  <a:gd name="T8" fmla="*/ 383 w 579"/>
                  <a:gd name="T9" fmla="*/ 60 h 1222"/>
                  <a:gd name="T10" fmla="*/ 216 w 579"/>
                  <a:gd name="T11" fmla="*/ 60 h 1222"/>
                  <a:gd name="T12" fmla="*/ 195 w 579"/>
                  <a:gd name="T13" fmla="*/ 38 h 1222"/>
                  <a:gd name="T14" fmla="*/ 195 w 579"/>
                  <a:gd name="T15" fmla="*/ 22 h 1222"/>
                  <a:gd name="T16" fmla="*/ 174 w 579"/>
                  <a:gd name="T17" fmla="*/ 0 h 1222"/>
                  <a:gd name="T18" fmla="*/ 144 w 579"/>
                  <a:gd name="T19" fmla="*/ 0 h 1222"/>
                  <a:gd name="T20" fmla="*/ 68 w 579"/>
                  <a:gd name="T21" fmla="*/ 0 h 1222"/>
                  <a:gd name="T22" fmla="*/ 1 w 579"/>
                  <a:gd name="T23" fmla="*/ 68 h 1222"/>
                  <a:gd name="T24" fmla="*/ 0 w 579"/>
                  <a:gd name="T25" fmla="*/ 1154 h 1222"/>
                  <a:gd name="T26" fmla="*/ 68 w 579"/>
                  <a:gd name="T27" fmla="*/ 1221 h 1222"/>
                  <a:gd name="T28" fmla="*/ 511 w 579"/>
                  <a:gd name="T29" fmla="*/ 1222 h 1222"/>
                  <a:gd name="T30" fmla="*/ 579 w 579"/>
                  <a:gd name="T31" fmla="*/ 1154 h 1222"/>
                  <a:gd name="T32" fmla="*/ 579 w 579"/>
                  <a:gd name="T33" fmla="*/ 68 h 1222"/>
                  <a:gd name="T34" fmla="*/ 511 w 579"/>
                  <a:gd name="T35" fmla="*/ 1 h 1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79" h="1222">
                    <a:moveTo>
                      <a:pt x="511" y="1"/>
                    </a:moveTo>
                    <a:cubicBezTo>
                      <a:pt x="425" y="1"/>
                      <a:pt x="425" y="1"/>
                      <a:pt x="425" y="1"/>
                    </a:cubicBezTo>
                    <a:cubicBezTo>
                      <a:pt x="414" y="0"/>
                      <a:pt x="404" y="10"/>
                      <a:pt x="404" y="22"/>
                    </a:cubicBezTo>
                    <a:cubicBezTo>
                      <a:pt x="404" y="38"/>
                      <a:pt x="404" y="38"/>
                      <a:pt x="404" y="38"/>
                    </a:cubicBezTo>
                    <a:cubicBezTo>
                      <a:pt x="404" y="50"/>
                      <a:pt x="395" y="60"/>
                      <a:pt x="383" y="60"/>
                    </a:cubicBezTo>
                    <a:cubicBezTo>
                      <a:pt x="216" y="60"/>
                      <a:pt x="216" y="60"/>
                      <a:pt x="216" y="60"/>
                    </a:cubicBezTo>
                    <a:cubicBezTo>
                      <a:pt x="204" y="60"/>
                      <a:pt x="195" y="50"/>
                      <a:pt x="195" y="38"/>
                    </a:cubicBezTo>
                    <a:cubicBezTo>
                      <a:pt x="195" y="22"/>
                      <a:pt x="195" y="22"/>
                      <a:pt x="195" y="22"/>
                    </a:cubicBezTo>
                    <a:cubicBezTo>
                      <a:pt x="195" y="10"/>
                      <a:pt x="185" y="0"/>
                      <a:pt x="174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31" y="0"/>
                      <a:pt x="1" y="31"/>
                      <a:pt x="1" y="68"/>
                    </a:cubicBezTo>
                    <a:cubicBezTo>
                      <a:pt x="0" y="1154"/>
                      <a:pt x="0" y="1154"/>
                      <a:pt x="0" y="1154"/>
                    </a:cubicBezTo>
                    <a:cubicBezTo>
                      <a:pt x="0" y="1191"/>
                      <a:pt x="31" y="1221"/>
                      <a:pt x="68" y="1221"/>
                    </a:cubicBezTo>
                    <a:cubicBezTo>
                      <a:pt x="511" y="1222"/>
                      <a:pt x="511" y="1222"/>
                      <a:pt x="511" y="1222"/>
                    </a:cubicBezTo>
                    <a:cubicBezTo>
                      <a:pt x="548" y="1222"/>
                      <a:pt x="579" y="1191"/>
                      <a:pt x="579" y="1154"/>
                    </a:cubicBezTo>
                    <a:cubicBezTo>
                      <a:pt x="579" y="68"/>
                      <a:pt x="579" y="68"/>
                      <a:pt x="579" y="68"/>
                    </a:cubicBezTo>
                    <a:cubicBezTo>
                      <a:pt x="579" y="31"/>
                      <a:pt x="549" y="1"/>
                      <a:pt x="5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o-RO" dirty="0"/>
              </a:p>
              <a:p>
                <a:endParaRPr lang="ro-RO" dirty="0"/>
              </a:p>
              <a:p>
                <a:endParaRPr lang="ro-RO" dirty="0"/>
              </a:p>
              <a:p>
                <a:endParaRPr lang="ro-RO" dirty="0"/>
              </a:p>
              <a:p>
                <a:endParaRPr lang="ro-RO" dirty="0"/>
              </a:p>
              <a:p>
                <a:endParaRPr lang="ro-RO" dirty="0"/>
              </a:p>
              <a:p>
                <a:endParaRPr lang="ro-RO" dirty="0"/>
              </a:p>
              <a:p>
                <a:endParaRPr lang="ro-RO" dirty="0"/>
              </a:p>
              <a:p>
                <a:pPr algn="ctr"/>
                <a:r>
                  <a:rPr lang="ro-RO" sz="3600" b="1" dirty="0"/>
                  <a:t>ZEGA</a:t>
                </a:r>
                <a:endParaRPr lang="en-US" sz="3600" b="1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E72397-BA90-F524-C062-CF00191C3B1A}"/>
                </a:ext>
              </a:extLst>
            </p:cNvPr>
            <p:cNvGrpSpPr/>
            <p:nvPr/>
          </p:nvGrpSpPr>
          <p:grpSpPr>
            <a:xfrm>
              <a:off x="5750404" y="1293289"/>
              <a:ext cx="5616285" cy="3986415"/>
              <a:chOff x="5181993" y="1293289"/>
              <a:chExt cx="5616285" cy="398641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2CB419E-FBA0-5480-6CF2-9EC9B8AD0931}"/>
                  </a:ext>
                </a:extLst>
              </p:cNvPr>
              <p:cNvGrpSpPr/>
              <p:nvPr/>
            </p:nvGrpSpPr>
            <p:grpSpPr>
              <a:xfrm>
                <a:off x="5181993" y="1293289"/>
                <a:ext cx="5616285" cy="3986415"/>
                <a:chOff x="5395049" y="1056658"/>
                <a:chExt cx="5616285" cy="3986415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7BBB6418-C1F4-4D2C-48DB-39CC4C630054}"/>
                    </a:ext>
                  </a:extLst>
                </p:cNvPr>
                <p:cNvGrpSpPr/>
                <p:nvPr/>
              </p:nvGrpSpPr>
              <p:grpSpPr>
                <a:xfrm>
                  <a:off x="5395049" y="1056658"/>
                  <a:ext cx="5616285" cy="651036"/>
                  <a:chOff x="5395049" y="1414441"/>
                  <a:chExt cx="5616285" cy="651036"/>
                </a:xfrm>
              </p:grpSpPr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90563BDA-FEED-BB43-94B4-9B9B1BFE4045}"/>
                      </a:ext>
                    </a:extLst>
                  </p:cNvPr>
                  <p:cNvGrpSpPr/>
                  <p:nvPr/>
                </p:nvGrpSpPr>
                <p:grpSpPr>
                  <a:xfrm>
                    <a:off x="5395049" y="1414441"/>
                    <a:ext cx="1034008" cy="651036"/>
                    <a:chOff x="920816" y="2053524"/>
                    <a:chExt cx="1294484" cy="815037"/>
                  </a:xfrm>
                </p:grpSpPr>
                <p:sp>
                  <p:nvSpPr>
                    <p:cNvPr id="44" name="Rectangle: Rounded Corners 43">
                      <a:extLst>
                        <a:ext uri="{FF2B5EF4-FFF2-40B4-BE49-F238E27FC236}">
                          <a16:creationId xmlns:a16="http://schemas.microsoft.com/office/drawing/2014/main" id="{382B3E05-09D3-EA3D-1F7E-B909D2177518}"/>
                        </a:ext>
                      </a:extLst>
                    </p:cNvPr>
                    <p:cNvSpPr/>
                    <p:nvPr/>
                  </p:nvSpPr>
                  <p:spPr>
                    <a:xfrm rot="18900000">
                      <a:off x="920816" y="2233116"/>
                      <a:ext cx="455856" cy="455857"/>
                    </a:xfrm>
                    <a:prstGeom prst="roundRect">
                      <a:avLst>
                        <a:gd name="adj" fmla="val 9141"/>
                      </a:avLst>
                    </a:prstGeom>
                    <a:gradFill flip="none" rotWithShape="1">
                      <a:gsLst>
                        <a:gs pos="0">
                          <a:srgbClr val="BFBEBE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27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5" name="Rectangle: Rounded Corners 44">
                      <a:extLst>
                        <a:ext uri="{FF2B5EF4-FFF2-40B4-BE49-F238E27FC236}">
                          <a16:creationId xmlns:a16="http://schemas.microsoft.com/office/drawing/2014/main" id="{80AABE48-C26C-D3A6-8037-DA3E5DC48FAA}"/>
                        </a:ext>
                      </a:extLst>
                    </p:cNvPr>
                    <p:cNvSpPr/>
                    <p:nvPr/>
                  </p:nvSpPr>
                  <p:spPr>
                    <a:xfrm rot="18900000">
                      <a:off x="1759444" y="2233117"/>
                      <a:ext cx="455856" cy="455857"/>
                    </a:xfrm>
                    <a:prstGeom prst="roundRect">
                      <a:avLst>
                        <a:gd name="adj" fmla="val 9141"/>
                      </a:avLst>
                    </a:prstGeom>
                    <a:gradFill flip="none" rotWithShape="1">
                      <a:gsLst>
                        <a:gs pos="0">
                          <a:srgbClr val="BFBEBE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108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6" name="Rectangle: Rounded Corners 45">
                      <a:extLst>
                        <a:ext uri="{FF2B5EF4-FFF2-40B4-BE49-F238E27FC236}">
                          <a16:creationId xmlns:a16="http://schemas.microsoft.com/office/drawing/2014/main" id="{FE01113F-F6E4-3156-F30F-D95BDD25BB21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1160540" y="2053524"/>
                      <a:ext cx="815037" cy="815038"/>
                    </a:xfrm>
                    <a:prstGeom prst="roundRect">
                      <a:avLst>
                        <a:gd name="adj" fmla="val 9141"/>
                      </a:avLst>
                    </a:prstGeom>
                    <a:solidFill>
                      <a:srgbClr val="102F5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857F0A3-E6C6-7836-E0E3-08CE787B514F}"/>
                      </a:ext>
                    </a:extLst>
                  </p:cNvPr>
                  <p:cNvSpPr txBox="1"/>
                  <p:nvPr/>
                </p:nvSpPr>
                <p:spPr>
                  <a:xfrm>
                    <a:off x="6714890" y="1650657"/>
                    <a:ext cx="4296444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</a:pPr>
                    <a:r>
                      <a:rPr lang="ro-RO" sz="1600" b="1" dirty="0"/>
                      <a:t>Raportarea aparatelor medicale nefuncționale </a:t>
                    </a:r>
                    <a:endParaRPr lang="en-US" sz="1600" b="1" dirty="0"/>
                  </a:p>
                </p:txBody>
              </p:sp>
            </p:grp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D631EE3C-7EB1-8C1B-F7A3-E37C3C930A36}"/>
                    </a:ext>
                  </a:extLst>
                </p:cNvPr>
                <p:cNvGrpSpPr/>
                <p:nvPr/>
              </p:nvGrpSpPr>
              <p:grpSpPr>
                <a:xfrm>
                  <a:off x="5395049" y="2168451"/>
                  <a:ext cx="5461968" cy="651036"/>
                  <a:chOff x="5395049" y="1414441"/>
                  <a:chExt cx="5461968" cy="651036"/>
                </a:xfrm>
              </p:grpSpPr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F256FCB2-FD24-F7E2-F920-A04BA508EC81}"/>
                      </a:ext>
                    </a:extLst>
                  </p:cNvPr>
                  <p:cNvGrpSpPr/>
                  <p:nvPr/>
                </p:nvGrpSpPr>
                <p:grpSpPr>
                  <a:xfrm>
                    <a:off x="5395049" y="1414441"/>
                    <a:ext cx="1034008" cy="651036"/>
                    <a:chOff x="920816" y="2053524"/>
                    <a:chExt cx="1294484" cy="815037"/>
                  </a:xfrm>
                </p:grpSpPr>
                <p:sp>
                  <p:nvSpPr>
                    <p:cNvPr id="39" name="Rectangle: Rounded Corners 38">
                      <a:extLst>
                        <a:ext uri="{FF2B5EF4-FFF2-40B4-BE49-F238E27FC236}">
                          <a16:creationId xmlns:a16="http://schemas.microsoft.com/office/drawing/2014/main" id="{A372D6BB-0BA5-B822-AF1F-87FF0B34D8E5}"/>
                        </a:ext>
                      </a:extLst>
                    </p:cNvPr>
                    <p:cNvSpPr/>
                    <p:nvPr/>
                  </p:nvSpPr>
                  <p:spPr>
                    <a:xfrm rot="18900000">
                      <a:off x="920816" y="2233116"/>
                      <a:ext cx="455856" cy="455857"/>
                    </a:xfrm>
                    <a:prstGeom prst="roundRect">
                      <a:avLst>
                        <a:gd name="adj" fmla="val 9141"/>
                      </a:avLst>
                    </a:prstGeom>
                    <a:gradFill flip="none" rotWithShape="1">
                      <a:gsLst>
                        <a:gs pos="0">
                          <a:srgbClr val="BFBEBE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27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0" name="Rectangle: Rounded Corners 39">
                      <a:extLst>
                        <a:ext uri="{FF2B5EF4-FFF2-40B4-BE49-F238E27FC236}">
                          <a16:creationId xmlns:a16="http://schemas.microsoft.com/office/drawing/2014/main" id="{E5CBED7B-B408-B6F9-D278-F2A01A334A3E}"/>
                        </a:ext>
                      </a:extLst>
                    </p:cNvPr>
                    <p:cNvSpPr/>
                    <p:nvPr/>
                  </p:nvSpPr>
                  <p:spPr>
                    <a:xfrm rot="18900000">
                      <a:off x="1759444" y="2233117"/>
                      <a:ext cx="455856" cy="455857"/>
                    </a:xfrm>
                    <a:prstGeom prst="roundRect">
                      <a:avLst>
                        <a:gd name="adj" fmla="val 9141"/>
                      </a:avLst>
                    </a:prstGeom>
                    <a:gradFill flip="none" rotWithShape="1">
                      <a:gsLst>
                        <a:gs pos="0">
                          <a:srgbClr val="BFBEBE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108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1" name="Rectangle: Rounded Corners 40">
                      <a:extLst>
                        <a:ext uri="{FF2B5EF4-FFF2-40B4-BE49-F238E27FC236}">
                          <a16:creationId xmlns:a16="http://schemas.microsoft.com/office/drawing/2014/main" id="{32419103-D220-E733-5534-135EC1E34973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1160540" y="2053524"/>
                      <a:ext cx="815037" cy="815038"/>
                    </a:xfrm>
                    <a:prstGeom prst="roundRect">
                      <a:avLst>
                        <a:gd name="adj" fmla="val 9141"/>
                      </a:avLst>
                    </a:prstGeom>
                    <a:gradFill flip="none" rotWithShape="1">
                      <a:gsLst>
                        <a:gs pos="0">
                          <a:schemeClr val="tx2"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26BE03E0-54C3-904F-7852-707DCED7A1FC}"/>
                      </a:ext>
                    </a:extLst>
                  </p:cNvPr>
                  <p:cNvSpPr txBox="1"/>
                  <p:nvPr/>
                </p:nvSpPr>
                <p:spPr>
                  <a:xfrm>
                    <a:off x="6714891" y="1639931"/>
                    <a:ext cx="4142126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</a:pPr>
                    <a:r>
                      <a:rPr lang="ro-RO" sz="1600" b="1" dirty="0"/>
                      <a:t>Raportare înlocuire consumabil aparat</a:t>
                    </a:r>
                    <a:endParaRPr lang="en-US" sz="1600" b="1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9C79710B-5F8C-F27C-6DA7-68D66B6CBDC6}"/>
                    </a:ext>
                  </a:extLst>
                </p:cNvPr>
                <p:cNvGrpSpPr/>
                <p:nvPr/>
              </p:nvGrpSpPr>
              <p:grpSpPr>
                <a:xfrm>
                  <a:off x="5395049" y="3280244"/>
                  <a:ext cx="5461968" cy="651036"/>
                  <a:chOff x="5395049" y="1414441"/>
                  <a:chExt cx="5461968" cy="651036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28D42651-4F20-E5E4-134F-A5DCFC68CAE1}"/>
                      </a:ext>
                    </a:extLst>
                  </p:cNvPr>
                  <p:cNvGrpSpPr/>
                  <p:nvPr/>
                </p:nvGrpSpPr>
                <p:grpSpPr>
                  <a:xfrm>
                    <a:off x="5395049" y="1414441"/>
                    <a:ext cx="1034008" cy="651036"/>
                    <a:chOff x="920816" y="2053524"/>
                    <a:chExt cx="1294484" cy="815037"/>
                  </a:xfrm>
                </p:grpSpPr>
                <p:sp>
                  <p:nvSpPr>
                    <p:cNvPr id="34" name="Rectangle: Rounded Corners 33">
                      <a:extLst>
                        <a:ext uri="{FF2B5EF4-FFF2-40B4-BE49-F238E27FC236}">
                          <a16:creationId xmlns:a16="http://schemas.microsoft.com/office/drawing/2014/main" id="{3DE6C2DD-F4EA-E6CA-BF98-12722CDCB258}"/>
                        </a:ext>
                      </a:extLst>
                    </p:cNvPr>
                    <p:cNvSpPr/>
                    <p:nvPr/>
                  </p:nvSpPr>
                  <p:spPr>
                    <a:xfrm rot="18900000">
                      <a:off x="920816" y="2233116"/>
                      <a:ext cx="455856" cy="455857"/>
                    </a:xfrm>
                    <a:prstGeom prst="roundRect">
                      <a:avLst>
                        <a:gd name="adj" fmla="val 9141"/>
                      </a:avLst>
                    </a:prstGeom>
                    <a:gradFill flip="none" rotWithShape="1">
                      <a:gsLst>
                        <a:gs pos="0">
                          <a:srgbClr val="BFBEBE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27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5" name="Rectangle: Rounded Corners 34">
                      <a:extLst>
                        <a:ext uri="{FF2B5EF4-FFF2-40B4-BE49-F238E27FC236}">
                          <a16:creationId xmlns:a16="http://schemas.microsoft.com/office/drawing/2014/main" id="{CFFF137B-BB11-5693-0659-1D634C0430DD}"/>
                        </a:ext>
                      </a:extLst>
                    </p:cNvPr>
                    <p:cNvSpPr/>
                    <p:nvPr/>
                  </p:nvSpPr>
                  <p:spPr>
                    <a:xfrm rot="18900000">
                      <a:off x="1759444" y="2233117"/>
                      <a:ext cx="455856" cy="455857"/>
                    </a:xfrm>
                    <a:prstGeom prst="roundRect">
                      <a:avLst>
                        <a:gd name="adj" fmla="val 9141"/>
                      </a:avLst>
                    </a:prstGeom>
                    <a:gradFill flip="none" rotWithShape="1">
                      <a:gsLst>
                        <a:gs pos="0">
                          <a:srgbClr val="BFBEBE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108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6" name="Rectangle: Rounded Corners 35">
                      <a:extLst>
                        <a:ext uri="{FF2B5EF4-FFF2-40B4-BE49-F238E27FC236}">
                          <a16:creationId xmlns:a16="http://schemas.microsoft.com/office/drawing/2014/main" id="{18EB109E-9763-834E-9F0D-6E8D5D7F9EF7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1160540" y="2053524"/>
                      <a:ext cx="815037" cy="815038"/>
                    </a:xfrm>
                    <a:prstGeom prst="roundRect">
                      <a:avLst>
                        <a:gd name="adj" fmla="val 9141"/>
                      </a:avLst>
                    </a:prstGeom>
                    <a:solidFill>
                      <a:srgbClr val="93D5E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FCB3A94-430E-0219-1E8E-321FBA0FC5F3}"/>
                      </a:ext>
                    </a:extLst>
                  </p:cNvPr>
                  <p:cNvSpPr txBox="1"/>
                  <p:nvPr/>
                </p:nvSpPr>
                <p:spPr>
                  <a:xfrm>
                    <a:off x="6714891" y="1629205"/>
                    <a:ext cx="4142126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</a:pPr>
                    <a:r>
                      <a:rPr lang="en-US" sz="1600" b="1" dirty="0" err="1"/>
                      <a:t>Vizualizarea</a:t>
                    </a:r>
                    <a:r>
                      <a:rPr lang="en-US" sz="1600" b="1" dirty="0"/>
                      <a:t> </a:t>
                    </a:r>
                    <a:r>
                      <a:rPr lang="en-US" sz="1600" b="1" dirty="0" err="1"/>
                      <a:t>și</a:t>
                    </a:r>
                    <a:r>
                      <a:rPr lang="en-US" sz="1600" b="1" dirty="0"/>
                      <a:t> </a:t>
                    </a:r>
                    <a:r>
                      <a:rPr lang="en-US" sz="1600" b="1" dirty="0" err="1"/>
                      <a:t>modificarea</a:t>
                    </a:r>
                    <a:r>
                      <a:rPr lang="en-US" sz="1600" b="1" dirty="0"/>
                      <a:t> </a:t>
                    </a:r>
                    <a:r>
                      <a:rPr lang="en-US" sz="1600" b="1" dirty="0" err="1"/>
                      <a:t>rapoartelor</a:t>
                    </a:r>
                    <a:endParaRPr lang="en-US" sz="1600" b="1" dirty="0"/>
                  </a:p>
                </p:txBody>
              </p: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009875A8-61ED-85E5-769A-B3597E3060B5}"/>
                    </a:ext>
                  </a:extLst>
                </p:cNvPr>
                <p:cNvGrpSpPr/>
                <p:nvPr/>
              </p:nvGrpSpPr>
              <p:grpSpPr>
                <a:xfrm>
                  <a:off x="5395049" y="4392037"/>
                  <a:ext cx="5461968" cy="651036"/>
                  <a:chOff x="5395049" y="1414441"/>
                  <a:chExt cx="5461968" cy="651036"/>
                </a:xfrm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64A05EA0-E646-4C5D-EB7E-B9433DF79614}"/>
                      </a:ext>
                    </a:extLst>
                  </p:cNvPr>
                  <p:cNvGrpSpPr/>
                  <p:nvPr/>
                </p:nvGrpSpPr>
                <p:grpSpPr>
                  <a:xfrm>
                    <a:off x="5395049" y="1414441"/>
                    <a:ext cx="1034008" cy="651036"/>
                    <a:chOff x="920816" y="2053524"/>
                    <a:chExt cx="1294484" cy="815037"/>
                  </a:xfrm>
                </p:grpSpPr>
                <p:sp>
                  <p:nvSpPr>
                    <p:cNvPr id="29" name="Rectangle: Rounded Corners 28">
                      <a:extLst>
                        <a:ext uri="{FF2B5EF4-FFF2-40B4-BE49-F238E27FC236}">
                          <a16:creationId xmlns:a16="http://schemas.microsoft.com/office/drawing/2014/main" id="{A022AD03-B343-6016-BBE9-3FDE87495093}"/>
                        </a:ext>
                      </a:extLst>
                    </p:cNvPr>
                    <p:cNvSpPr/>
                    <p:nvPr/>
                  </p:nvSpPr>
                  <p:spPr>
                    <a:xfrm rot="18900000">
                      <a:off x="920816" y="2233116"/>
                      <a:ext cx="455856" cy="455857"/>
                    </a:xfrm>
                    <a:prstGeom prst="roundRect">
                      <a:avLst>
                        <a:gd name="adj" fmla="val 9141"/>
                      </a:avLst>
                    </a:prstGeom>
                    <a:gradFill flip="none" rotWithShape="1">
                      <a:gsLst>
                        <a:gs pos="0">
                          <a:srgbClr val="BFBEBE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27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0" name="Rectangle: Rounded Corners 29">
                      <a:extLst>
                        <a:ext uri="{FF2B5EF4-FFF2-40B4-BE49-F238E27FC236}">
                          <a16:creationId xmlns:a16="http://schemas.microsoft.com/office/drawing/2014/main" id="{990422B0-5E3D-B4B5-D5C7-0B9F2D886331}"/>
                        </a:ext>
                      </a:extLst>
                    </p:cNvPr>
                    <p:cNvSpPr/>
                    <p:nvPr/>
                  </p:nvSpPr>
                  <p:spPr>
                    <a:xfrm rot="18900000">
                      <a:off x="1759444" y="2233117"/>
                      <a:ext cx="455856" cy="455857"/>
                    </a:xfrm>
                    <a:prstGeom prst="roundRect">
                      <a:avLst>
                        <a:gd name="adj" fmla="val 9141"/>
                      </a:avLst>
                    </a:prstGeom>
                    <a:gradFill flip="none" rotWithShape="1">
                      <a:gsLst>
                        <a:gs pos="0">
                          <a:srgbClr val="BFBEBE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108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1" name="Rectangle: Rounded Corners 30">
                      <a:extLst>
                        <a:ext uri="{FF2B5EF4-FFF2-40B4-BE49-F238E27FC236}">
                          <a16:creationId xmlns:a16="http://schemas.microsoft.com/office/drawing/2014/main" id="{8E785348-E0E7-1453-84B5-E754A3BE8B84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1160540" y="2053524"/>
                      <a:ext cx="815037" cy="815038"/>
                    </a:xfrm>
                    <a:prstGeom prst="roundRect">
                      <a:avLst>
                        <a:gd name="adj" fmla="val 9141"/>
                      </a:avLst>
                    </a:prstGeom>
                    <a:gradFill flip="none" rotWithShape="1">
                      <a:gsLst>
                        <a:gs pos="0">
                          <a:schemeClr val="bg2">
                            <a:shade val="30000"/>
                            <a:satMod val="115000"/>
                          </a:schemeClr>
                        </a:gs>
                        <a:gs pos="50000">
                          <a:schemeClr val="bg2">
                            <a:shade val="67500"/>
                            <a:satMod val="115000"/>
                          </a:schemeClr>
                        </a:gs>
                        <a:gs pos="100000">
                          <a:schemeClr val="bg2"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30DC4EA-3B1A-7565-2604-539574B5C730}"/>
                      </a:ext>
                    </a:extLst>
                  </p:cNvPr>
                  <p:cNvSpPr txBox="1"/>
                  <p:nvPr/>
                </p:nvSpPr>
                <p:spPr>
                  <a:xfrm>
                    <a:off x="6714891" y="1669420"/>
                    <a:ext cx="4142126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</a:pPr>
                    <a:r>
                      <a:rPr lang="ro-RO" sz="1600" b="1" dirty="0"/>
                      <a:t>Vizualizare</a:t>
                    </a:r>
                    <a:r>
                      <a:rPr lang="en-US" sz="1600" b="1" dirty="0"/>
                      <a:t>a</a:t>
                    </a:r>
                    <a:r>
                      <a:rPr lang="ro-RO" sz="1600" b="1" dirty="0"/>
                      <a:t> statistici</a:t>
                    </a:r>
                    <a:r>
                      <a:rPr lang="en-US" sz="1600" b="1" dirty="0"/>
                      <a:t>lor</a:t>
                    </a:r>
                    <a:r>
                      <a:rPr lang="ro-RO" sz="1600" b="1" dirty="0"/>
                      <a:t> lunare</a:t>
                    </a:r>
                    <a:endParaRPr lang="en-US" sz="1600" b="1" dirty="0"/>
                  </a:p>
                </p:txBody>
              </p:sp>
            </p:grp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1B3650-009C-9EC3-7093-C1D58245ECAD}"/>
                  </a:ext>
                </a:extLst>
              </p:cNvPr>
              <p:cNvSpPr txBox="1"/>
              <p:nvPr/>
            </p:nvSpPr>
            <p:spPr>
              <a:xfrm>
                <a:off x="5296873" y="1429478"/>
                <a:ext cx="8187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Georgia Pro" panose="02040802050405020203" pitchFamily="18" charset="0"/>
                  </a:rPr>
                  <a:t>01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12B909-90DB-9659-9D58-1C167B5893CA}"/>
                  </a:ext>
                </a:extLst>
              </p:cNvPr>
              <p:cNvSpPr txBox="1"/>
              <p:nvPr/>
            </p:nvSpPr>
            <p:spPr>
              <a:xfrm>
                <a:off x="5296873" y="2530545"/>
                <a:ext cx="8187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Georgia Pro" panose="02040802050405020203" pitchFamily="18" charset="0"/>
                  </a:rPr>
                  <a:t>02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795152-F7F2-A2D0-25D7-F4CC8A830D53}"/>
                  </a:ext>
                </a:extLst>
              </p:cNvPr>
              <p:cNvSpPr txBox="1"/>
              <p:nvPr/>
            </p:nvSpPr>
            <p:spPr>
              <a:xfrm>
                <a:off x="5296873" y="3642336"/>
                <a:ext cx="8187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Georgia Pro" panose="02040802050405020203" pitchFamily="18" charset="0"/>
                  </a:rPr>
                  <a:t>03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34B2BE-B384-1340-1097-BD1B314976F9}"/>
                  </a:ext>
                </a:extLst>
              </p:cNvPr>
              <p:cNvSpPr txBox="1"/>
              <p:nvPr/>
            </p:nvSpPr>
            <p:spPr>
              <a:xfrm>
                <a:off x="5296873" y="4775925"/>
                <a:ext cx="8187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Georgia Pro" panose="02040802050405020203" pitchFamily="18" charset="0"/>
                  </a:rPr>
                  <a:t>04</a:t>
                </a:r>
              </a:p>
            </p:txBody>
          </p:sp>
        </p:grpSp>
      </p:grpSp>
      <p:sp>
        <p:nvSpPr>
          <p:cNvPr id="62" name="Slide Number Placeholder 5">
            <a:extLst>
              <a:ext uri="{FF2B5EF4-FFF2-40B4-BE49-F238E27FC236}">
                <a16:creationId xmlns:a16="http://schemas.microsoft.com/office/drawing/2014/main" id="{68D46269-E76B-C1E1-2EE3-9D029C15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z="1000" b="1" smtClean="0"/>
              <a:pPr>
                <a:spcAft>
                  <a:spcPts val="600"/>
                </a:spcAft>
              </a:pPr>
              <a:t>6</a:t>
            </a:fld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55221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567017F-B060-413D-AE1E-4429A5231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66D3D91-8BA7-4CF5-A573-BEB5E87A9131}" type="slidenum">
              <a:rPr lang="en-US" sz="10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spcAft>
                  <a:spcPts val="600"/>
                </a:spcAft>
              </a:pPr>
              <a:t>7</a:t>
            </a:fld>
            <a:endParaRPr lang="en-US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3644A60-AB3E-01B8-675C-79116E987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253" y="0"/>
            <a:ext cx="10329218" cy="6858000"/>
          </a:xfrm>
          <a:prstGeom prst="rect">
            <a:avLst/>
          </a:prstGeom>
        </p:spPr>
      </p:pic>
      <p:sp>
        <p:nvSpPr>
          <p:cNvPr id="2" name="Google Shape;5018;p125">
            <a:extLst>
              <a:ext uri="{FF2B5EF4-FFF2-40B4-BE49-F238E27FC236}">
                <a16:creationId xmlns:a16="http://schemas.microsoft.com/office/drawing/2014/main" id="{8D20BBAB-BCF7-1072-C768-B67D2073FE6D}"/>
              </a:ext>
            </a:extLst>
          </p:cNvPr>
          <p:cNvSpPr/>
          <p:nvPr/>
        </p:nvSpPr>
        <p:spPr>
          <a:xfrm>
            <a:off x="578383" y="1290022"/>
            <a:ext cx="4549429" cy="45719"/>
          </a:xfrm>
          <a:prstGeom prst="rect">
            <a:avLst/>
          </a:prstGeom>
          <a:solidFill>
            <a:srgbClr val="93D5E3"/>
          </a:solidFill>
          <a:ln>
            <a:solidFill>
              <a:srgbClr val="93D5E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6E89A1-0BEB-89C0-6347-AB2B03EDB6FA}"/>
              </a:ext>
            </a:extLst>
          </p:cNvPr>
          <p:cNvSpPr txBox="1">
            <a:spLocks/>
          </p:cNvSpPr>
          <p:nvPr/>
        </p:nvSpPr>
        <p:spPr>
          <a:xfrm>
            <a:off x="632169" y="152399"/>
            <a:ext cx="6406065" cy="11833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/>
              <a:t>ARHITECTURA BAZEI </a:t>
            </a:r>
            <a:endParaRPr lang="ro-RO" sz="3300" dirty="0"/>
          </a:p>
          <a:p>
            <a:r>
              <a:rPr lang="en-US" sz="3300" dirty="0"/>
              <a:t>DE DATE</a:t>
            </a:r>
            <a:r>
              <a:rPr lang="ro-RO" sz="33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0365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018;p125">
            <a:extLst>
              <a:ext uri="{FF2B5EF4-FFF2-40B4-BE49-F238E27FC236}">
                <a16:creationId xmlns:a16="http://schemas.microsoft.com/office/drawing/2014/main" id="{4686451D-DA01-4531-2F01-9D3D2FE10B25}"/>
              </a:ext>
            </a:extLst>
          </p:cNvPr>
          <p:cNvSpPr/>
          <p:nvPr/>
        </p:nvSpPr>
        <p:spPr>
          <a:xfrm>
            <a:off x="644122" y="890382"/>
            <a:ext cx="2430771" cy="47047"/>
          </a:xfrm>
          <a:prstGeom prst="rect">
            <a:avLst/>
          </a:prstGeom>
          <a:solidFill>
            <a:srgbClr val="93D5E3"/>
          </a:solidFill>
          <a:ln>
            <a:solidFill>
              <a:srgbClr val="93D5E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4AA1CD-28AB-63AB-3E98-1FF0FBDD480E}"/>
              </a:ext>
            </a:extLst>
          </p:cNvPr>
          <p:cNvSpPr txBox="1">
            <a:spLocks/>
          </p:cNvSpPr>
          <p:nvPr/>
        </p:nvSpPr>
        <p:spPr>
          <a:xfrm>
            <a:off x="644123" y="364067"/>
            <a:ext cx="4288367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dirty="0"/>
              <a:t>CONCLUZII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797546C-2E80-05C0-4ED7-F335BB19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z="1000" b="1" smtClean="0"/>
              <a:pPr>
                <a:spcAft>
                  <a:spcPts val="600"/>
                </a:spcAft>
              </a:pPr>
              <a:t>8</a:t>
            </a:fld>
            <a:endParaRPr lang="en-US" sz="1000" b="1" dirty="0"/>
          </a:p>
        </p:txBody>
      </p:sp>
      <p:sp>
        <p:nvSpPr>
          <p:cNvPr id="2" name="Google Shape;2095;p80">
            <a:extLst>
              <a:ext uri="{FF2B5EF4-FFF2-40B4-BE49-F238E27FC236}">
                <a16:creationId xmlns:a16="http://schemas.microsoft.com/office/drawing/2014/main" id="{857CA94F-1B11-DE03-D5CA-E7DB5E4C41DB}"/>
              </a:ext>
            </a:extLst>
          </p:cNvPr>
          <p:cNvSpPr/>
          <p:nvPr/>
        </p:nvSpPr>
        <p:spPr>
          <a:xfrm flipH="1">
            <a:off x="875070" y="1653392"/>
            <a:ext cx="766250" cy="766163"/>
          </a:xfrm>
          <a:custGeom>
            <a:avLst/>
            <a:gdLst/>
            <a:ahLst/>
            <a:cxnLst/>
            <a:rect l="l" t="t" r="r" b="b"/>
            <a:pathLst>
              <a:path w="34893" h="34893" extrusionOk="0">
                <a:moveTo>
                  <a:pt x="1" y="1"/>
                </a:moveTo>
                <a:lnTo>
                  <a:pt x="1" y="34892"/>
                </a:lnTo>
                <a:lnTo>
                  <a:pt x="34892" y="34892"/>
                </a:lnTo>
                <a:lnTo>
                  <a:pt x="34892" y="1"/>
                </a:lnTo>
                <a:close/>
              </a:path>
            </a:pathLst>
          </a:custGeom>
          <a:solidFill>
            <a:srgbClr val="102F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095;p80">
            <a:extLst>
              <a:ext uri="{FF2B5EF4-FFF2-40B4-BE49-F238E27FC236}">
                <a16:creationId xmlns:a16="http://schemas.microsoft.com/office/drawing/2014/main" id="{DD7F75E5-963F-2E3A-3A8A-BCE38731D5A0}"/>
              </a:ext>
            </a:extLst>
          </p:cNvPr>
          <p:cNvSpPr/>
          <p:nvPr/>
        </p:nvSpPr>
        <p:spPr>
          <a:xfrm flipH="1">
            <a:off x="875070" y="2953275"/>
            <a:ext cx="766250" cy="766163"/>
          </a:xfrm>
          <a:custGeom>
            <a:avLst/>
            <a:gdLst/>
            <a:ahLst/>
            <a:cxnLst/>
            <a:rect l="l" t="t" r="r" b="b"/>
            <a:pathLst>
              <a:path w="34893" h="34893" extrusionOk="0">
                <a:moveTo>
                  <a:pt x="1" y="1"/>
                </a:moveTo>
                <a:lnTo>
                  <a:pt x="1" y="34892"/>
                </a:lnTo>
                <a:lnTo>
                  <a:pt x="34892" y="34892"/>
                </a:lnTo>
                <a:lnTo>
                  <a:pt x="34892" y="1"/>
                </a:lnTo>
                <a:close/>
              </a:path>
            </a:pathLst>
          </a:custGeom>
          <a:solidFill>
            <a:srgbClr val="93D5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2095;p80">
            <a:extLst>
              <a:ext uri="{FF2B5EF4-FFF2-40B4-BE49-F238E27FC236}">
                <a16:creationId xmlns:a16="http://schemas.microsoft.com/office/drawing/2014/main" id="{097DB1C2-722C-D87E-213C-AD734CB0093D}"/>
              </a:ext>
            </a:extLst>
          </p:cNvPr>
          <p:cNvSpPr/>
          <p:nvPr/>
        </p:nvSpPr>
        <p:spPr>
          <a:xfrm flipH="1">
            <a:off x="875070" y="4248676"/>
            <a:ext cx="766250" cy="766163"/>
          </a:xfrm>
          <a:custGeom>
            <a:avLst/>
            <a:gdLst/>
            <a:ahLst/>
            <a:cxnLst/>
            <a:rect l="l" t="t" r="r" b="b"/>
            <a:pathLst>
              <a:path w="34893" h="34893" extrusionOk="0">
                <a:moveTo>
                  <a:pt x="1" y="1"/>
                </a:moveTo>
                <a:lnTo>
                  <a:pt x="1" y="34892"/>
                </a:lnTo>
                <a:lnTo>
                  <a:pt x="34892" y="34892"/>
                </a:lnTo>
                <a:lnTo>
                  <a:pt x="34892" y="1"/>
                </a:lnTo>
                <a:close/>
              </a:path>
            </a:pathLst>
          </a:custGeom>
          <a:solidFill>
            <a:srgbClr val="6363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2095;p80">
            <a:extLst>
              <a:ext uri="{FF2B5EF4-FFF2-40B4-BE49-F238E27FC236}">
                <a16:creationId xmlns:a16="http://schemas.microsoft.com/office/drawing/2014/main" id="{9D53EC8C-D835-AB28-8AD2-2463042AE39A}"/>
              </a:ext>
            </a:extLst>
          </p:cNvPr>
          <p:cNvSpPr/>
          <p:nvPr/>
        </p:nvSpPr>
        <p:spPr>
          <a:xfrm flipH="1">
            <a:off x="875070" y="5530630"/>
            <a:ext cx="766250" cy="766163"/>
          </a:xfrm>
          <a:custGeom>
            <a:avLst/>
            <a:gdLst/>
            <a:ahLst/>
            <a:cxnLst/>
            <a:rect l="l" t="t" r="r" b="b"/>
            <a:pathLst>
              <a:path w="34893" h="34893" extrusionOk="0">
                <a:moveTo>
                  <a:pt x="1" y="1"/>
                </a:moveTo>
                <a:lnTo>
                  <a:pt x="1" y="34892"/>
                </a:lnTo>
                <a:lnTo>
                  <a:pt x="34892" y="34892"/>
                </a:lnTo>
                <a:lnTo>
                  <a:pt x="34892" y="1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2090;p80">
            <a:extLst>
              <a:ext uri="{FF2B5EF4-FFF2-40B4-BE49-F238E27FC236}">
                <a16:creationId xmlns:a16="http://schemas.microsoft.com/office/drawing/2014/main" id="{C0D0A5C0-413E-AD34-078B-2837826A2DDF}"/>
              </a:ext>
            </a:extLst>
          </p:cNvPr>
          <p:cNvSpPr txBox="1">
            <a:spLocks/>
          </p:cNvSpPr>
          <p:nvPr/>
        </p:nvSpPr>
        <p:spPr>
          <a:xfrm>
            <a:off x="2008299" y="3067256"/>
            <a:ext cx="7162594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 err="1"/>
              <a:t>Durata</a:t>
            </a:r>
            <a:r>
              <a:rPr lang="en-US" b="1" dirty="0"/>
              <a:t> </a:t>
            </a:r>
            <a:r>
              <a:rPr lang="en-US" b="1" dirty="0" err="1"/>
              <a:t>creării</a:t>
            </a:r>
            <a:r>
              <a:rPr lang="en-US" b="1" dirty="0"/>
              <a:t> </a:t>
            </a:r>
            <a:r>
              <a:rPr lang="en-US" b="1" dirty="0" err="1"/>
              <a:t>unui</a:t>
            </a:r>
            <a:r>
              <a:rPr lang="en-US" b="1" dirty="0"/>
              <a:t> </a:t>
            </a:r>
            <a:r>
              <a:rPr lang="en-US" b="1" dirty="0" err="1"/>
              <a:t>raport</a:t>
            </a:r>
            <a:r>
              <a:rPr lang="en-US" b="1" dirty="0"/>
              <a:t> </a:t>
            </a:r>
            <a:r>
              <a:rPr lang="en-US" b="1" dirty="0" err="1"/>
              <a:t>este</a:t>
            </a:r>
            <a:r>
              <a:rPr lang="en-US" b="1" dirty="0"/>
              <a:t> </a:t>
            </a:r>
            <a:r>
              <a:rPr lang="en-US" b="1" dirty="0" err="1"/>
              <a:t>cuprinsă</a:t>
            </a:r>
            <a:r>
              <a:rPr lang="en-US" b="1" dirty="0"/>
              <a:t> </a:t>
            </a:r>
            <a:r>
              <a:rPr lang="en-US" b="1" dirty="0" err="1"/>
              <a:t>între</a:t>
            </a:r>
            <a:r>
              <a:rPr lang="en-US" b="1" dirty="0"/>
              <a:t> 15 </a:t>
            </a:r>
            <a:r>
              <a:rPr lang="en-US" b="1" dirty="0" err="1"/>
              <a:t>și</a:t>
            </a:r>
            <a:r>
              <a:rPr lang="en-US" b="1" dirty="0"/>
              <a:t> 25 de </a:t>
            </a:r>
            <a:r>
              <a:rPr lang="en-US" b="1" dirty="0" err="1"/>
              <a:t>secunde</a:t>
            </a:r>
            <a:endParaRPr lang="en-US" b="1" dirty="0"/>
          </a:p>
        </p:txBody>
      </p:sp>
      <p:sp>
        <p:nvSpPr>
          <p:cNvPr id="11" name="Google Shape;2090;p80">
            <a:extLst>
              <a:ext uri="{FF2B5EF4-FFF2-40B4-BE49-F238E27FC236}">
                <a16:creationId xmlns:a16="http://schemas.microsoft.com/office/drawing/2014/main" id="{DD0C0B46-AAD0-DED6-0B9D-B8B5412B3AF8}"/>
              </a:ext>
            </a:extLst>
          </p:cNvPr>
          <p:cNvSpPr txBox="1">
            <a:spLocks/>
          </p:cNvSpPr>
          <p:nvPr/>
        </p:nvSpPr>
        <p:spPr>
          <a:xfrm>
            <a:off x="2127252" y="1767373"/>
            <a:ext cx="6924689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 </a:t>
            </a:r>
            <a:r>
              <a:rPr lang="en-US" b="1" dirty="0" err="1"/>
              <a:t>Aplicația</a:t>
            </a:r>
            <a:r>
              <a:rPr lang="en-US" b="1" dirty="0"/>
              <a:t> </a:t>
            </a:r>
            <a:r>
              <a:rPr lang="ro-RO" b="1" dirty="0"/>
              <a:t>respectă cerințele și funcționalitățile necesare în spital</a:t>
            </a:r>
            <a:endParaRPr lang="en-US" b="1" dirty="0"/>
          </a:p>
        </p:txBody>
      </p:sp>
      <p:sp>
        <p:nvSpPr>
          <p:cNvPr id="12" name="Google Shape;2090;p80">
            <a:extLst>
              <a:ext uri="{FF2B5EF4-FFF2-40B4-BE49-F238E27FC236}">
                <a16:creationId xmlns:a16="http://schemas.microsoft.com/office/drawing/2014/main" id="{E23529DC-E52E-AA79-32BA-E5EF5B22A7D9}"/>
              </a:ext>
            </a:extLst>
          </p:cNvPr>
          <p:cNvSpPr txBox="1">
            <a:spLocks/>
          </p:cNvSpPr>
          <p:nvPr/>
        </p:nvSpPr>
        <p:spPr>
          <a:xfrm>
            <a:off x="2127252" y="4368466"/>
            <a:ext cx="6848829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 err="1"/>
              <a:t>Aplicația</a:t>
            </a:r>
            <a:r>
              <a:rPr lang="en-US" b="1" dirty="0"/>
              <a:t> ZEGA </a:t>
            </a:r>
            <a:r>
              <a:rPr lang="en-US" b="1" dirty="0" err="1"/>
              <a:t>poate</a:t>
            </a:r>
            <a:r>
              <a:rPr lang="en-US" b="1" dirty="0"/>
              <a:t> s</a:t>
            </a:r>
            <a:r>
              <a:rPr lang="ro-RO" b="1" dirty="0"/>
              <a:t>ă</a:t>
            </a:r>
            <a:r>
              <a:rPr lang="en-US" b="1" dirty="0"/>
              <a:t> fie </a:t>
            </a:r>
            <a:r>
              <a:rPr lang="en-US" b="1" dirty="0" err="1"/>
              <a:t>extinsă</a:t>
            </a:r>
            <a:r>
              <a:rPr lang="en-US" b="1" dirty="0"/>
              <a:t> </a:t>
            </a:r>
            <a:r>
              <a:rPr lang="ro-RO" b="1" dirty="0"/>
              <a:t>în</a:t>
            </a:r>
            <a:r>
              <a:rPr lang="en-US" b="1" dirty="0"/>
              <a:t> </a:t>
            </a:r>
            <a:r>
              <a:rPr lang="en-US" b="1" dirty="0" err="1"/>
              <a:t>mai</a:t>
            </a:r>
            <a:r>
              <a:rPr lang="en-US" b="1" dirty="0"/>
              <a:t> </a:t>
            </a:r>
            <a:r>
              <a:rPr lang="en-US" b="1" dirty="0" err="1"/>
              <a:t>multe</a:t>
            </a:r>
            <a:r>
              <a:rPr lang="en-US" b="1" dirty="0"/>
              <a:t> </a:t>
            </a:r>
            <a:r>
              <a:rPr lang="en-US" b="1" dirty="0" err="1"/>
              <a:t>secții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 </a:t>
            </a:r>
            <a:r>
              <a:rPr lang="en-US" b="1" dirty="0" err="1"/>
              <a:t>spitale</a:t>
            </a:r>
            <a:endParaRPr lang="en-US" b="1" dirty="0"/>
          </a:p>
        </p:txBody>
      </p:sp>
      <p:sp>
        <p:nvSpPr>
          <p:cNvPr id="13" name="Google Shape;2090;p80">
            <a:extLst>
              <a:ext uri="{FF2B5EF4-FFF2-40B4-BE49-F238E27FC236}">
                <a16:creationId xmlns:a16="http://schemas.microsoft.com/office/drawing/2014/main" id="{CF428481-2BA2-F55F-1965-C3A92FB7A72A}"/>
              </a:ext>
            </a:extLst>
          </p:cNvPr>
          <p:cNvSpPr txBox="1">
            <a:spLocks/>
          </p:cNvSpPr>
          <p:nvPr/>
        </p:nvSpPr>
        <p:spPr>
          <a:xfrm>
            <a:off x="2127252" y="5648593"/>
            <a:ext cx="2892983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b="1" dirty="0"/>
              <a:t>Intuitivă și ușor de utilizat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875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55DECE7-4D12-0359-6702-7F8C6C9662A6}"/>
              </a:ext>
            </a:extLst>
          </p:cNvPr>
          <p:cNvSpPr txBox="1">
            <a:spLocks/>
          </p:cNvSpPr>
          <p:nvPr/>
        </p:nvSpPr>
        <p:spPr>
          <a:xfrm>
            <a:off x="636620" y="328564"/>
            <a:ext cx="4288367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dirty="0"/>
              <a:t>DIRECȚII DE DEZVOLTARE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DCB90C-EB2D-9E00-FB57-FEF1AA1FB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31" y="1204864"/>
            <a:ext cx="2686499" cy="4571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D76BD30-70E0-9124-85D3-A84827FC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z="1000" b="1" smtClean="0"/>
              <a:pPr>
                <a:spcAft>
                  <a:spcPts val="600"/>
                </a:spcAft>
              </a:pPr>
              <a:t>9</a:t>
            </a:fld>
            <a:endParaRPr lang="en-US" sz="1000" b="1" dirty="0"/>
          </a:p>
        </p:txBody>
      </p:sp>
      <p:sp>
        <p:nvSpPr>
          <p:cNvPr id="11" name="Google Shape;743;p61">
            <a:extLst>
              <a:ext uri="{FF2B5EF4-FFF2-40B4-BE49-F238E27FC236}">
                <a16:creationId xmlns:a16="http://schemas.microsoft.com/office/drawing/2014/main" id="{0A2F7AF9-78AF-AEFF-2377-9BAA196AD3F4}"/>
              </a:ext>
            </a:extLst>
          </p:cNvPr>
          <p:cNvSpPr txBox="1">
            <a:spLocks/>
          </p:cNvSpPr>
          <p:nvPr/>
        </p:nvSpPr>
        <p:spPr>
          <a:xfrm>
            <a:off x="7097326" y="1618886"/>
            <a:ext cx="2686500" cy="4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dirty="0"/>
              <a:t>Adăugare de funcționalități conform cerințelor clientului</a:t>
            </a:r>
            <a:endParaRPr lang="en-US" dirty="0"/>
          </a:p>
        </p:txBody>
      </p:sp>
      <p:sp>
        <p:nvSpPr>
          <p:cNvPr id="13" name="Google Shape;752;p61">
            <a:extLst>
              <a:ext uri="{FF2B5EF4-FFF2-40B4-BE49-F238E27FC236}">
                <a16:creationId xmlns:a16="http://schemas.microsoft.com/office/drawing/2014/main" id="{1B963027-7199-A876-A5F8-440EF78C6649}"/>
              </a:ext>
            </a:extLst>
          </p:cNvPr>
          <p:cNvSpPr txBox="1">
            <a:spLocks/>
          </p:cNvSpPr>
          <p:nvPr/>
        </p:nvSpPr>
        <p:spPr>
          <a:xfrm>
            <a:off x="2408176" y="1721582"/>
            <a:ext cx="2686500" cy="4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dirty="0"/>
              <a:t>Generarea rapoartelor </a:t>
            </a:r>
            <a:r>
              <a:rPr lang="en-US" dirty="0" err="1"/>
              <a:t>în</a:t>
            </a:r>
            <a:r>
              <a:rPr lang="ro-RO" dirty="0"/>
              <a:t> format PDF</a:t>
            </a:r>
            <a:endParaRPr lang="en-US" dirty="0"/>
          </a:p>
        </p:txBody>
      </p:sp>
      <p:grpSp>
        <p:nvGrpSpPr>
          <p:cNvPr id="36" name="Google Shape;2699;p49">
            <a:extLst>
              <a:ext uri="{FF2B5EF4-FFF2-40B4-BE49-F238E27FC236}">
                <a16:creationId xmlns:a16="http://schemas.microsoft.com/office/drawing/2014/main" id="{2A746F94-0E31-478F-81A4-8135E577254A}"/>
              </a:ext>
            </a:extLst>
          </p:cNvPr>
          <p:cNvGrpSpPr/>
          <p:nvPr/>
        </p:nvGrpSpPr>
        <p:grpSpPr>
          <a:xfrm>
            <a:off x="3048774" y="2427654"/>
            <a:ext cx="6094452" cy="2063040"/>
            <a:chOff x="1621724" y="2106974"/>
            <a:chExt cx="4261296" cy="1517351"/>
          </a:xfrm>
        </p:grpSpPr>
        <p:grpSp>
          <p:nvGrpSpPr>
            <p:cNvPr id="37" name="Google Shape;2700;p49">
              <a:extLst>
                <a:ext uri="{FF2B5EF4-FFF2-40B4-BE49-F238E27FC236}">
                  <a16:creationId xmlns:a16="http://schemas.microsoft.com/office/drawing/2014/main" id="{554B0326-2853-8736-D207-15D6AD3A57A6}"/>
                </a:ext>
              </a:extLst>
            </p:cNvPr>
            <p:cNvGrpSpPr/>
            <p:nvPr/>
          </p:nvGrpSpPr>
          <p:grpSpPr>
            <a:xfrm>
              <a:off x="2604811" y="2884996"/>
              <a:ext cx="2382882" cy="538"/>
              <a:chOff x="3762462" y="2553002"/>
              <a:chExt cx="664533" cy="150"/>
            </a:xfrm>
          </p:grpSpPr>
          <p:cxnSp>
            <p:nvCxnSpPr>
              <p:cNvPr id="58" name="Google Shape;2701;p49">
                <a:extLst>
                  <a:ext uri="{FF2B5EF4-FFF2-40B4-BE49-F238E27FC236}">
                    <a16:creationId xmlns:a16="http://schemas.microsoft.com/office/drawing/2014/main" id="{1DB84B09-352C-6DA9-8DDD-1EFBB0015696}"/>
                  </a:ext>
                </a:extLst>
              </p:cNvPr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2703;p49">
                <a:extLst>
                  <a:ext uri="{FF2B5EF4-FFF2-40B4-BE49-F238E27FC236}">
                    <a16:creationId xmlns:a16="http://schemas.microsoft.com/office/drawing/2014/main" id="{B8BBCF1A-D053-575C-C680-12A6ADF0EE36}"/>
                  </a:ext>
                </a:extLst>
              </p:cNvPr>
              <p:cNvCxnSpPr>
                <a:stCxn id="50" idx="6"/>
                <a:endCxn id="56" idx="2"/>
              </p:cNvCxnSpPr>
              <p:nvPr/>
            </p:nvCxnSpPr>
            <p:spPr>
              <a:xfrm>
                <a:off x="3762462" y="2553152"/>
                <a:ext cx="183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8" name="Google Shape;2706;p49">
              <a:extLst>
                <a:ext uri="{FF2B5EF4-FFF2-40B4-BE49-F238E27FC236}">
                  <a16:creationId xmlns:a16="http://schemas.microsoft.com/office/drawing/2014/main" id="{44E249E8-4EA1-E486-8173-EA33FB1796A9}"/>
                </a:ext>
              </a:extLst>
            </p:cNvPr>
            <p:cNvCxnSpPr/>
            <p:nvPr/>
          </p:nvCxnSpPr>
          <p:spPr>
            <a:xfrm>
              <a:off x="3752008" y="3186309"/>
              <a:ext cx="0" cy="35822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9" name="Google Shape;2707;p49">
              <a:extLst>
                <a:ext uri="{FF2B5EF4-FFF2-40B4-BE49-F238E27FC236}">
                  <a16:creationId xmlns:a16="http://schemas.microsoft.com/office/drawing/2014/main" id="{E4F5817D-4CFF-0045-1E25-8DA103A59291}"/>
                </a:ext>
              </a:extLst>
            </p:cNvPr>
            <p:cNvGrpSpPr/>
            <p:nvPr/>
          </p:nvGrpSpPr>
          <p:grpSpPr>
            <a:xfrm>
              <a:off x="3261117" y="2393765"/>
              <a:ext cx="983055" cy="983055"/>
              <a:chOff x="3347725" y="2480342"/>
              <a:chExt cx="810032" cy="810032"/>
            </a:xfrm>
          </p:grpSpPr>
          <p:sp>
            <p:nvSpPr>
              <p:cNvPr id="56" name="Google Shape;2705;p49">
                <a:extLst>
                  <a:ext uri="{FF2B5EF4-FFF2-40B4-BE49-F238E27FC236}">
                    <a16:creationId xmlns:a16="http://schemas.microsoft.com/office/drawing/2014/main" id="{1C7D7AD2-8236-5A52-E947-C6300329A74F}"/>
                  </a:ext>
                </a:extLst>
              </p:cNvPr>
              <p:cNvSpPr/>
              <p:nvPr/>
            </p:nvSpPr>
            <p:spPr>
              <a:xfrm>
                <a:off x="3347725" y="2480342"/>
                <a:ext cx="810032" cy="810032"/>
              </a:xfrm>
              <a:prstGeom prst="ellipse">
                <a:avLst/>
              </a:prstGeom>
              <a:solidFill>
                <a:srgbClr val="93D5E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708;p49">
                <a:extLst>
                  <a:ext uri="{FF2B5EF4-FFF2-40B4-BE49-F238E27FC236}">
                    <a16:creationId xmlns:a16="http://schemas.microsoft.com/office/drawing/2014/main" id="{E7E62346-F69D-2849-C3C4-72447E1AB072}"/>
                  </a:ext>
                </a:extLst>
              </p:cNvPr>
              <p:cNvSpPr/>
              <p:nvPr/>
            </p:nvSpPr>
            <p:spPr>
              <a:xfrm>
                <a:off x="3451091" y="2583719"/>
                <a:ext cx="603490" cy="60349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" name="Google Shape;2709;p49">
              <a:extLst>
                <a:ext uri="{FF2B5EF4-FFF2-40B4-BE49-F238E27FC236}">
                  <a16:creationId xmlns:a16="http://schemas.microsoft.com/office/drawing/2014/main" id="{CA5ECAE2-6FDF-C801-653B-17D28AE8A2C9}"/>
                </a:ext>
              </a:extLst>
            </p:cNvPr>
            <p:cNvCxnSpPr>
              <a:stCxn id="55" idx="0"/>
            </p:cNvCxnSpPr>
            <p:nvPr/>
          </p:nvCxnSpPr>
          <p:spPr>
            <a:xfrm rot="10800000">
              <a:off x="5391613" y="2122099"/>
              <a:ext cx="0" cy="39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1" name="Google Shape;2711;p49">
              <a:extLst>
                <a:ext uri="{FF2B5EF4-FFF2-40B4-BE49-F238E27FC236}">
                  <a16:creationId xmlns:a16="http://schemas.microsoft.com/office/drawing/2014/main" id="{4CDB2F71-A893-E5EC-AAD7-311D9A754364}"/>
                </a:ext>
              </a:extLst>
            </p:cNvPr>
            <p:cNvGrpSpPr/>
            <p:nvPr/>
          </p:nvGrpSpPr>
          <p:grpSpPr>
            <a:xfrm>
              <a:off x="4899976" y="2393376"/>
              <a:ext cx="983044" cy="983044"/>
              <a:chOff x="4987056" y="2480342"/>
              <a:chExt cx="808956" cy="808956"/>
            </a:xfrm>
          </p:grpSpPr>
          <p:sp>
            <p:nvSpPr>
              <p:cNvPr id="54" name="Google Shape;2712;p49">
                <a:extLst>
                  <a:ext uri="{FF2B5EF4-FFF2-40B4-BE49-F238E27FC236}">
                    <a16:creationId xmlns:a16="http://schemas.microsoft.com/office/drawing/2014/main" id="{7417A7E7-FE8A-C500-5AE2-A80481737178}"/>
                  </a:ext>
                </a:extLst>
              </p:cNvPr>
              <p:cNvSpPr/>
              <p:nvPr/>
            </p:nvSpPr>
            <p:spPr>
              <a:xfrm>
                <a:off x="4987056" y="2480342"/>
                <a:ext cx="808956" cy="80895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710;p49">
                <a:extLst>
                  <a:ext uri="{FF2B5EF4-FFF2-40B4-BE49-F238E27FC236}">
                    <a16:creationId xmlns:a16="http://schemas.microsoft.com/office/drawing/2014/main" id="{E8840578-2278-3DEE-4DC1-C169CC97FE57}"/>
                  </a:ext>
                </a:extLst>
              </p:cNvPr>
              <p:cNvSpPr/>
              <p:nvPr/>
            </p:nvSpPr>
            <p:spPr>
              <a:xfrm>
                <a:off x="5090423" y="2583719"/>
                <a:ext cx="602414" cy="602414"/>
              </a:xfrm>
              <a:prstGeom prst="ellipse">
                <a:avLst/>
              </a:prstGeom>
              <a:solidFill>
                <a:srgbClr val="93D5E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4" name="Google Shape;2717;p49">
              <a:extLst>
                <a:ext uri="{FF2B5EF4-FFF2-40B4-BE49-F238E27FC236}">
                  <a16:creationId xmlns:a16="http://schemas.microsoft.com/office/drawing/2014/main" id="{3EC7D987-A538-9B0D-DCF1-62FA3290E1A4}"/>
                </a:ext>
              </a:extLst>
            </p:cNvPr>
            <p:cNvCxnSpPr>
              <a:stCxn id="51" idx="0"/>
            </p:cNvCxnSpPr>
            <p:nvPr/>
          </p:nvCxnSpPr>
          <p:spPr>
            <a:xfrm rot="10800000">
              <a:off x="2113432" y="2122227"/>
              <a:ext cx="0" cy="39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5" name="Google Shape;2719;p49">
              <a:extLst>
                <a:ext uri="{FF2B5EF4-FFF2-40B4-BE49-F238E27FC236}">
                  <a16:creationId xmlns:a16="http://schemas.microsoft.com/office/drawing/2014/main" id="{9B72BD96-A771-C9E5-B7A5-21FCC29D9E49}"/>
                </a:ext>
              </a:extLst>
            </p:cNvPr>
            <p:cNvGrpSpPr/>
            <p:nvPr/>
          </p:nvGrpSpPr>
          <p:grpSpPr>
            <a:xfrm>
              <a:off x="1621724" y="2393805"/>
              <a:ext cx="983087" cy="983459"/>
              <a:chOff x="1708681" y="2480698"/>
              <a:chExt cx="809125" cy="809432"/>
            </a:xfrm>
          </p:grpSpPr>
          <p:sp>
            <p:nvSpPr>
              <p:cNvPr id="50" name="Google Shape;2704;p49">
                <a:extLst>
                  <a:ext uri="{FF2B5EF4-FFF2-40B4-BE49-F238E27FC236}">
                    <a16:creationId xmlns:a16="http://schemas.microsoft.com/office/drawing/2014/main" id="{15E204A7-9FD2-CF86-5E45-E84511920A98}"/>
                  </a:ext>
                </a:extLst>
              </p:cNvPr>
              <p:cNvSpPr/>
              <p:nvPr/>
            </p:nvSpPr>
            <p:spPr>
              <a:xfrm>
                <a:off x="1708681" y="2480698"/>
                <a:ext cx="809125" cy="809432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718;p49">
                <a:extLst>
                  <a:ext uri="{FF2B5EF4-FFF2-40B4-BE49-F238E27FC236}">
                    <a16:creationId xmlns:a16="http://schemas.microsoft.com/office/drawing/2014/main" id="{CF63CD3B-7E5F-C810-C9E9-B989AF46330D}"/>
                  </a:ext>
                </a:extLst>
              </p:cNvPr>
              <p:cNvSpPr/>
              <p:nvPr/>
            </p:nvSpPr>
            <p:spPr>
              <a:xfrm>
                <a:off x="1812063" y="2584091"/>
                <a:ext cx="602631" cy="602631"/>
              </a:xfrm>
              <a:prstGeom prst="ellipse">
                <a:avLst/>
              </a:prstGeom>
              <a:solidFill>
                <a:srgbClr val="93D5E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" name="Google Shape;2720;p49">
              <a:extLst>
                <a:ext uri="{FF2B5EF4-FFF2-40B4-BE49-F238E27FC236}">
                  <a16:creationId xmlns:a16="http://schemas.microsoft.com/office/drawing/2014/main" id="{146AE449-64F0-8EEE-BAC9-E06067100022}"/>
                </a:ext>
              </a:extLst>
            </p:cNvPr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rgbClr val="93D5E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721;p49">
              <a:extLst>
                <a:ext uri="{FF2B5EF4-FFF2-40B4-BE49-F238E27FC236}">
                  <a16:creationId xmlns:a16="http://schemas.microsoft.com/office/drawing/2014/main" id="{24CFBA38-8511-A23C-D245-18EE266420D5}"/>
                </a:ext>
              </a:extLst>
            </p:cNvPr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rgbClr val="93D5E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722;p49">
              <a:extLst>
                <a:ext uri="{FF2B5EF4-FFF2-40B4-BE49-F238E27FC236}">
                  <a16:creationId xmlns:a16="http://schemas.microsoft.com/office/drawing/2014/main" id="{95905F77-FB95-E539-10EE-375537E8C048}"/>
                </a:ext>
              </a:extLst>
            </p:cNvPr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746;p61">
            <a:extLst>
              <a:ext uri="{FF2B5EF4-FFF2-40B4-BE49-F238E27FC236}">
                <a16:creationId xmlns:a16="http://schemas.microsoft.com/office/drawing/2014/main" id="{8D5993AA-B4FC-054C-DB55-C3E0A6C95818}"/>
              </a:ext>
            </a:extLst>
          </p:cNvPr>
          <p:cNvSpPr txBox="1">
            <a:spLocks/>
          </p:cNvSpPr>
          <p:nvPr/>
        </p:nvSpPr>
        <p:spPr>
          <a:xfrm>
            <a:off x="4751467" y="4588401"/>
            <a:ext cx="2686500" cy="4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dirty="0"/>
              <a:t>Statistici multiple</a:t>
            </a:r>
            <a:endParaRPr lang="en-US" dirty="0"/>
          </a:p>
        </p:txBody>
      </p:sp>
      <p:sp>
        <p:nvSpPr>
          <p:cNvPr id="10" name="Google Shape;741;p61">
            <a:extLst>
              <a:ext uri="{FF2B5EF4-FFF2-40B4-BE49-F238E27FC236}">
                <a16:creationId xmlns:a16="http://schemas.microsoft.com/office/drawing/2014/main" id="{9BD78877-D78C-866B-8674-7108C354573E}"/>
              </a:ext>
            </a:extLst>
          </p:cNvPr>
          <p:cNvSpPr txBox="1">
            <a:spLocks/>
          </p:cNvSpPr>
          <p:nvPr/>
        </p:nvSpPr>
        <p:spPr>
          <a:xfrm>
            <a:off x="3273960" y="3318061"/>
            <a:ext cx="9630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01</a:t>
            </a:r>
          </a:p>
        </p:txBody>
      </p:sp>
      <p:sp>
        <p:nvSpPr>
          <p:cNvPr id="12" name="Google Shape;750;p61">
            <a:extLst>
              <a:ext uri="{FF2B5EF4-FFF2-40B4-BE49-F238E27FC236}">
                <a16:creationId xmlns:a16="http://schemas.microsoft.com/office/drawing/2014/main" id="{16DDFA5F-8C1A-E9F5-F66A-303A7DE78699}"/>
              </a:ext>
            </a:extLst>
          </p:cNvPr>
          <p:cNvSpPr txBox="1">
            <a:spLocks/>
          </p:cNvSpPr>
          <p:nvPr/>
        </p:nvSpPr>
        <p:spPr>
          <a:xfrm>
            <a:off x="5614531" y="3318061"/>
            <a:ext cx="9630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02</a:t>
            </a:r>
          </a:p>
        </p:txBody>
      </p:sp>
      <p:sp>
        <p:nvSpPr>
          <p:cNvPr id="14" name="Google Shape;744;p61">
            <a:extLst>
              <a:ext uri="{FF2B5EF4-FFF2-40B4-BE49-F238E27FC236}">
                <a16:creationId xmlns:a16="http://schemas.microsoft.com/office/drawing/2014/main" id="{892B3E10-7D83-790B-FD80-F8A3B0686FD1}"/>
              </a:ext>
            </a:extLst>
          </p:cNvPr>
          <p:cNvSpPr txBox="1">
            <a:spLocks/>
          </p:cNvSpPr>
          <p:nvPr/>
        </p:nvSpPr>
        <p:spPr>
          <a:xfrm>
            <a:off x="7958553" y="3330095"/>
            <a:ext cx="9630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0819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5D046B-307D-9B46-84B6-A95D7DC8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z="1000" b="1" smtClean="0"/>
              <a:pPr>
                <a:spcAft>
                  <a:spcPts val="600"/>
                </a:spcAft>
              </a:pPr>
              <a:t>10</a:t>
            </a:fld>
            <a:endParaRPr lang="en-US" b="1" dirty="0"/>
          </a:p>
        </p:txBody>
      </p:sp>
      <p:sp>
        <p:nvSpPr>
          <p:cNvPr id="10" name="Google Shape;3664;p119">
            <a:extLst>
              <a:ext uri="{FF2B5EF4-FFF2-40B4-BE49-F238E27FC236}">
                <a16:creationId xmlns:a16="http://schemas.microsoft.com/office/drawing/2014/main" id="{F42B3F5E-7E6F-2AF0-6D02-16EA1D74B7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91700" y="2917800"/>
            <a:ext cx="4975782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dirty="0"/>
              <a:t>VĂ MULȚUMESC!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728516960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154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 Next LT Pro</vt:lpstr>
      <vt:lpstr>Avenir Next LT Pro Light</vt:lpstr>
      <vt:lpstr>Georgia Pro</vt:lpstr>
      <vt:lpstr>Montserrat</vt:lpstr>
      <vt:lpstr>EncaseVTI</vt:lpstr>
      <vt:lpstr>APLICAȚIE MOBILĂ PENTRU RAPORTAREA APARATURII MEDICALE NEFUNCȚIONALE</vt:lpstr>
      <vt:lpstr>CUPRINS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VĂ MULȚUMESC!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APLICAȚIE MOBILĂ PENTRU RAPORTAREA APARATURII MEDICALE NEFUNCȚIONALE</dc:title>
  <dc:creator>Groza Teofil</dc:creator>
  <cp:lastModifiedBy>Groza Teofil</cp:lastModifiedBy>
  <cp:revision>43</cp:revision>
  <dcterms:created xsi:type="dcterms:W3CDTF">2023-06-25T12:30:17Z</dcterms:created>
  <dcterms:modified xsi:type="dcterms:W3CDTF">2023-08-04T10:15:03Z</dcterms:modified>
</cp:coreProperties>
</file>